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png" ContentType="image/png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09625" y="885837"/>
            <a:ext cx="10668000" cy="56515"/>
          </a:xfrm>
          <a:custGeom>
            <a:avLst/>
            <a:gdLst/>
            <a:ahLst/>
            <a:cxnLst/>
            <a:rect l="l" t="t" r="r" b="b"/>
            <a:pathLst>
              <a:path w="10668000" h="56515">
                <a:moveTo>
                  <a:pt x="10668000" y="45085"/>
                </a:moveTo>
                <a:lnTo>
                  <a:pt x="0" y="45085"/>
                </a:lnTo>
                <a:lnTo>
                  <a:pt x="0" y="56502"/>
                </a:lnTo>
                <a:lnTo>
                  <a:pt x="10668000" y="56502"/>
                </a:lnTo>
                <a:lnTo>
                  <a:pt x="10668000" y="45085"/>
                </a:lnTo>
                <a:close/>
              </a:path>
              <a:path w="10668000" h="56515">
                <a:moveTo>
                  <a:pt x="10668000" y="0"/>
                </a:moveTo>
                <a:lnTo>
                  <a:pt x="0" y="0"/>
                </a:lnTo>
                <a:lnTo>
                  <a:pt x="0" y="34277"/>
                </a:lnTo>
                <a:lnTo>
                  <a:pt x="10668000" y="34277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9792" y="114236"/>
            <a:ext cx="9879965" cy="70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6267" y="1202143"/>
            <a:ext cx="10144125" cy="3667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hyperlink" Target="http://www.hirevue.com/" TargetMode="External"/><Relationship Id="rId6" Type="http://schemas.openxmlformats.org/officeDocument/2006/relationships/hyperlink" Target="http://www.hiretual.com/" TargetMode="Externa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09625" y="884567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07"/>
                </a:moveTo>
                <a:lnTo>
                  <a:pt x="0" y="45707"/>
                </a:lnTo>
                <a:lnTo>
                  <a:pt x="0" y="57137"/>
                </a:lnTo>
                <a:lnTo>
                  <a:pt x="10668000" y="57137"/>
                </a:lnTo>
                <a:lnTo>
                  <a:pt x="10668000" y="45707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77"/>
                </a:lnTo>
                <a:lnTo>
                  <a:pt x="10668000" y="34277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72965" y="118998"/>
            <a:ext cx="2830195" cy="660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7100" marR="5080" indent="-915035">
              <a:lnSpc>
                <a:spcPct val="115700"/>
              </a:lnSpc>
              <a:spcBef>
                <a:spcPts val="100"/>
              </a:spcBef>
            </a:pPr>
            <a:r>
              <a:rPr dirty="0" sz="1800"/>
              <a:t>CSE7101-</a:t>
            </a:r>
            <a:r>
              <a:rPr dirty="0" sz="1800" spc="-95"/>
              <a:t> </a:t>
            </a:r>
            <a:r>
              <a:rPr dirty="0" sz="1800" spc="-10"/>
              <a:t>Capstone</a:t>
            </a:r>
            <a:r>
              <a:rPr dirty="0" sz="1800" spc="-85"/>
              <a:t> </a:t>
            </a:r>
            <a:r>
              <a:rPr dirty="0" sz="1800" spc="-10"/>
              <a:t>Project </a:t>
            </a:r>
            <a:r>
              <a:rPr dirty="0" sz="1800" spc="-25"/>
              <a:t>Review-</a:t>
            </a:r>
            <a:r>
              <a:rPr dirty="0" sz="1800" spc="-50"/>
              <a:t>5</a:t>
            </a:r>
            <a:endParaRPr sz="1800"/>
          </a:p>
        </p:txBody>
      </p:sp>
      <p:sp>
        <p:nvSpPr>
          <p:cNvPr id="5" name="object 5" descr=""/>
          <p:cNvSpPr txBox="1"/>
          <p:nvPr/>
        </p:nvSpPr>
        <p:spPr>
          <a:xfrm>
            <a:off x="870267" y="1346834"/>
            <a:ext cx="8846820" cy="1024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795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mbria"/>
                <a:cs typeface="Cambria"/>
              </a:rPr>
              <a:t>AI-</a:t>
            </a:r>
            <a:r>
              <a:rPr dirty="0" sz="2400" spc="-25" b="1">
                <a:latin typeface="Cambria"/>
                <a:cs typeface="Cambria"/>
              </a:rPr>
              <a:t>job-</a:t>
            </a:r>
            <a:r>
              <a:rPr dirty="0" sz="2400" spc="-10" b="1">
                <a:latin typeface="Cambria"/>
                <a:cs typeface="Cambria"/>
              </a:rPr>
              <a:t>Searching</a:t>
            </a:r>
            <a:r>
              <a:rPr dirty="0" sz="2400" spc="-55" b="1">
                <a:latin typeface="Cambria"/>
                <a:cs typeface="Cambria"/>
              </a:rPr>
              <a:t> </a:t>
            </a:r>
            <a:r>
              <a:rPr dirty="0" sz="2400" b="1">
                <a:latin typeface="Cambria"/>
                <a:cs typeface="Cambria"/>
              </a:rPr>
              <a:t>and</a:t>
            </a:r>
            <a:r>
              <a:rPr dirty="0" sz="2400" spc="-60" b="1">
                <a:latin typeface="Cambria"/>
                <a:cs typeface="Cambria"/>
              </a:rPr>
              <a:t> </a:t>
            </a:r>
            <a:r>
              <a:rPr dirty="0" sz="2400" spc="-10" b="1">
                <a:latin typeface="Cambria"/>
                <a:cs typeface="Cambria"/>
              </a:rPr>
              <a:t>Hiring</a:t>
            </a:r>
            <a:r>
              <a:rPr dirty="0" sz="2400" spc="-105" b="1">
                <a:latin typeface="Cambria"/>
                <a:cs typeface="Cambria"/>
              </a:rPr>
              <a:t> </a:t>
            </a:r>
            <a:r>
              <a:rPr dirty="0" sz="2400" spc="-20" b="1">
                <a:latin typeface="Cambria"/>
                <a:cs typeface="Cambria"/>
              </a:rPr>
              <a:t>Recommendation</a:t>
            </a:r>
            <a:r>
              <a:rPr dirty="0" sz="2400" spc="-75" b="1">
                <a:latin typeface="Cambria"/>
                <a:cs typeface="Cambria"/>
              </a:rPr>
              <a:t> </a:t>
            </a:r>
            <a:r>
              <a:rPr dirty="0" sz="2400" spc="-10" b="1"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dirty="0" sz="1800" spc="-8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dirty="0" sz="18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CSE_64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5167" y="2653411"/>
            <a:ext cx="1680845" cy="7626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840"/>
              </a:spcBef>
            </a:pPr>
            <a:r>
              <a:rPr dirty="0" sz="1800" spc="70" b="1">
                <a:solidFill>
                  <a:srgbClr val="17365D"/>
                </a:solidFill>
                <a:latin typeface="Cambria"/>
                <a:cs typeface="Cambria"/>
              </a:rPr>
              <a:t>Roll</a:t>
            </a:r>
            <a:r>
              <a:rPr dirty="0" sz="1800" spc="29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90" b="1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800" spc="70">
                <a:latin typeface="Georgia"/>
                <a:cs typeface="Georgia"/>
              </a:rPr>
              <a:t>20221CSE0175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07360" y="2653411"/>
            <a:ext cx="2606675" cy="176022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R="17145">
              <a:lnSpc>
                <a:spcPct val="100000"/>
              </a:lnSpc>
              <a:spcBef>
                <a:spcPts val="840"/>
              </a:spcBef>
            </a:pPr>
            <a:r>
              <a:rPr dirty="0" sz="1800" spc="85" b="1">
                <a:solidFill>
                  <a:srgbClr val="17365D"/>
                </a:solidFill>
                <a:latin typeface="Cambria"/>
                <a:cs typeface="Cambria"/>
              </a:rPr>
              <a:t>Student</a:t>
            </a:r>
            <a:r>
              <a:rPr dirty="0" sz="1800" spc="80" b="1">
                <a:solidFill>
                  <a:srgbClr val="17365D"/>
                </a:solidFill>
                <a:latin typeface="Cambria"/>
                <a:cs typeface="Cambria"/>
              </a:rPr>
              <a:t>  </a:t>
            </a:r>
            <a:r>
              <a:rPr dirty="0" sz="1800" spc="70" b="1">
                <a:solidFill>
                  <a:srgbClr val="17365D"/>
                </a:solidFill>
                <a:latin typeface="Cambria"/>
                <a:cs typeface="Cambria"/>
              </a:rPr>
              <a:t>Name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dirty="0" sz="1800" spc="50">
                <a:latin typeface="Georgia"/>
                <a:cs typeface="Georgia"/>
              </a:rPr>
              <a:t>KOVURI</a:t>
            </a:r>
            <a:r>
              <a:rPr dirty="0" sz="1800" spc="12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VASIF</a:t>
            </a:r>
            <a:r>
              <a:rPr dirty="0" sz="1800" spc="110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AFRIDI</a:t>
            </a:r>
            <a:endParaRPr sz="1800">
              <a:latin typeface="Georgia"/>
              <a:cs typeface="Georgia"/>
            </a:endParaRPr>
          </a:p>
          <a:p>
            <a:pPr algn="ctr" marL="24765" marR="34925">
              <a:lnSpc>
                <a:spcPct val="103000"/>
              </a:lnSpc>
              <a:spcBef>
                <a:spcPts val="630"/>
              </a:spcBef>
            </a:pPr>
            <a:r>
              <a:rPr dirty="0" sz="1800">
                <a:latin typeface="Georgia"/>
                <a:cs typeface="Georgia"/>
              </a:rPr>
              <a:t>C</a:t>
            </a:r>
            <a:r>
              <a:rPr dirty="0" sz="1800" spc="26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VENKATA</a:t>
            </a:r>
            <a:r>
              <a:rPr dirty="0" sz="1800" spc="270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PRAKASH </a:t>
            </a:r>
            <a:r>
              <a:rPr dirty="0" sz="1800" spc="35">
                <a:latin typeface="Georgia"/>
                <a:cs typeface="Georgia"/>
              </a:rPr>
              <a:t>CHOWDARY</a:t>
            </a:r>
            <a:endParaRPr sz="1800">
              <a:latin typeface="Georgia"/>
              <a:cs typeface="Georgia"/>
            </a:endParaRPr>
          </a:p>
          <a:p>
            <a:pPr algn="ctr" marL="24130">
              <a:lnSpc>
                <a:spcPct val="100000"/>
              </a:lnSpc>
              <a:spcBef>
                <a:spcPts val="615"/>
              </a:spcBef>
            </a:pPr>
            <a:r>
              <a:rPr dirty="0" sz="1800">
                <a:latin typeface="Georgia"/>
                <a:cs typeface="Georgia"/>
              </a:rPr>
              <a:t>MOHAN</a:t>
            </a:r>
            <a:r>
              <a:rPr dirty="0" sz="1800" spc="85">
                <a:latin typeface="Georgia"/>
                <a:cs typeface="Georgia"/>
              </a:rPr>
              <a:t> </a:t>
            </a:r>
            <a:r>
              <a:rPr dirty="0" sz="1800" spc="95">
                <a:latin typeface="Georgia"/>
                <a:cs typeface="Georgia"/>
              </a:rPr>
              <a:t>GANESH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05167" y="3611879"/>
            <a:ext cx="1753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0">
                <a:latin typeface="Georgia"/>
                <a:cs typeface="Georgia"/>
              </a:rPr>
              <a:t>20221CSE0157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5167" y="4113529"/>
            <a:ext cx="1675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latin typeface="Georgia"/>
                <a:cs typeface="Georgia"/>
              </a:rPr>
              <a:t>20221CSE0191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04480" y="2538095"/>
            <a:ext cx="266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dirty="0" sz="1800" spc="-8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dirty="0" sz="1800" spc="-6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dirty="0" sz="1800" spc="-5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25" b="1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67551" y="3168522"/>
            <a:ext cx="5228590" cy="629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7625">
              <a:lnSpc>
                <a:spcPct val="116599"/>
              </a:lnSpc>
              <a:spcBef>
                <a:spcPts val="100"/>
              </a:spcBef>
            </a:pP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Dr.</a:t>
            </a:r>
            <a:r>
              <a:rPr dirty="0" sz="1700" spc="-2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Saurabh</a:t>
            </a:r>
            <a:r>
              <a:rPr dirty="0" sz="1700" spc="-2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Sarkar</a:t>
            </a:r>
            <a:r>
              <a:rPr dirty="0" sz="1700" spc="-7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,</a:t>
            </a:r>
            <a:r>
              <a:rPr dirty="0" sz="1700" spc="-4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Ms.Poonam</a:t>
            </a:r>
            <a:r>
              <a:rPr dirty="0" sz="1700" spc="-4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dirty="0" sz="1700" spc="-4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Computer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Science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and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 Engineering</a:t>
            </a:r>
            <a:r>
              <a:rPr dirty="0" sz="1700" spc="-2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dirty="0" sz="1700" spc="-1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6917" y="4825365"/>
            <a:ext cx="7510780" cy="112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dirty="0" sz="1800" spc="-55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dirty="0" sz="1800" spc="-3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dirty="0" sz="1800" spc="-5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Program:</a:t>
            </a:r>
            <a:r>
              <a:rPr dirty="0" sz="1800" spc="-45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4F81BB"/>
                </a:solidFill>
                <a:latin typeface="Cambria"/>
                <a:cs typeface="Cambria"/>
              </a:rPr>
              <a:t>B-</a:t>
            </a:r>
            <a:r>
              <a:rPr dirty="0" sz="1800" spc="-20" b="1">
                <a:solidFill>
                  <a:srgbClr val="4F81BB"/>
                </a:solidFill>
                <a:latin typeface="Cambria"/>
                <a:cs typeface="Cambria"/>
              </a:rPr>
              <a:t>Tech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dirty="0" sz="1800" spc="-7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dirty="0" sz="1800" spc="-2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dirty="0" sz="1800" spc="-4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HoD:</a:t>
            </a:r>
            <a:r>
              <a:rPr dirty="0" sz="1800" spc="-1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mbria"/>
                <a:cs typeface="Cambria"/>
              </a:rPr>
              <a:t>Dr.</a:t>
            </a:r>
            <a:r>
              <a:rPr dirty="0" sz="1800" spc="-10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mbria"/>
                <a:cs typeface="Cambria"/>
              </a:rPr>
              <a:t>BLESSED</a:t>
            </a:r>
            <a:r>
              <a:rPr dirty="0" sz="1800" spc="-55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Cambria"/>
                <a:cs typeface="Cambria"/>
              </a:rPr>
              <a:t>PRINCE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dirty="0" sz="1800" spc="-65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dirty="0" sz="1800" spc="-65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dirty="0" sz="1800" spc="-55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Program</a:t>
            </a:r>
            <a:r>
              <a:rPr dirty="0" sz="1800" spc="-35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Project</a:t>
            </a:r>
            <a:r>
              <a:rPr dirty="0" sz="1800" spc="-6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Coordinator:</a:t>
            </a:r>
            <a:r>
              <a:rPr dirty="0" sz="1800" spc="-3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mbria"/>
                <a:cs typeface="Cambria"/>
              </a:rPr>
              <a:t>Dr.</a:t>
            </a:r>
            <a:r>
              <a:rPr dirty="0" sz="1800" spc="-25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mbria"/>
                <a:cs typeface="Cambria"/>
              </a:rPr>
              <a:t>jayavadivel</a:t>
            </a:r>
            <a:r>
              <a:rPr dirty="0" sz="1800" spc="-75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-20" b="1">
                <a:solidFill>
                  <a:srgbClr val="FF0000"/>
                </a:solidFill>
                <a:latin typeface="Cambria"/>
                <a:cs typeface="Cambria"/>
              </a:rPr>
              <a:t>Ravi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Name</a:t>
            </a:r>
            <a:r>
              <a:rPr dirty="0" sz="1800" spc="-55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of</a:t>
            </a:r>
            <a:r>
              <a:rPr dirty="0" sz="1800" spc="-6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the</a:t>
            </a:r>
            <a:r>
              <a:rPr dirty="0" sz="1800" spc="-5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School</a:t>
            </a:r>
            <a:r>
              <a:rPr dirty="0" sz="1800" spc="-3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Project</a:t>
            </a:r>
            <a:r>
              <a:rPr dirty="0" sz="1800" spc="-5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B"/>
                </a:solidFill>
                <a:latin typeface="Cambria"/>
                <a:cs typeface="Cambria"/>
              </a:rPr>
              <a:t>Coordinators:</a:t>
            </a:r>
            <a:r>
              <a:rPr dirty="0" sz="1800" spc="20" b="1">
                <a:solidFill>
                  <a:srgbClr val="4F81BB"/>
                </a:solidFill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Dr.</a:t>
            </a:r>
            <a:r>
              <a:rPr dirty="0" sz="1800" spc="-7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Sampath</a:t>
            </a:r>
            <a:r>
              <a:rPr dirty="0" sz="1800" spc="-6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A</a:t>
            </a:r>
            <a:r>
              <a:rPr dirty="0" sz="1800" spc="-4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K</a:t>
            </a:r>
            <a:r>
              <a:rPr dirty="0" sz="1800" spc="-2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,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Dr.</a:t>
            </a:r>
            <a:r>
              <a:rPr dirty="0" sz="1800" spc="-2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Geetha</a:t>
            </a:r>
            <a:r>
              <a:rPr dirty="0" sz="1800" spc="-5" b="1">
                <a:latin typeface="Cambria"/>
                <a:cs typeface="Cambria"/>
              </a:rPr>
              <a:t> </a:t>
            </a:r>
            <a:r>
              <a:rPr dirty="0" sz="1800" spc="-50" b="1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3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100"/>
              <a:t> </a:t>
            </a:r>
            <a:r>
              <a:rPr dirty="0"/>
              <a:t>Statement</a:t>
            </a:r>
            <a:r>
              <a:rPr dirty="0" spc="135"/>
              <a:t> </a:t>
            </a:r>
            <a:r>
              <a:rPr dirty="0" spc="-10"/>
              <a:t>Number: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5517" y="989583"/>
            <a:ext cx="9874250" cy="477647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135"/>
              </a:spcBef>
            </a:pPr>
            <a:r>
              <a:rPr dirty="0" sz="1700" spc="-10">
                <a:latin typeface="Cambria"/>
                <a:cs typeface="Cambria"/>
              </a:rPr>
              <a:t>Organization: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presidency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  <a:spcBef>
                <a:spcPts val="1040"/>
              </a:spcBef>
            </a:pPr>
            <a:r>
              <a:rPr dirty="0" sz="1700">
                <a:latin typeface="Cambria"/>
                <a:cs typeface="Cambria"/>
              </a:rPr>
              <a:t>Category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(Hardware</a:t>
            </a:r>
            <a:r>
              <a:rPr dirty="0" sz="1700" spc="-6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/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Software</a:t>
            </a:r>
            <a:r>
              <a:rPr dirty="0" sz="1700" spc="-8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/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Both)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: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software</a:t>
            </a:r>
            <a:endParaRPr sz="1700">
              <a:latin typeface="Cambria"/>
              <a:cs typeface="Cambria"/>
            </a:endParaRPr>
          </a:p>
          <a:p>
            <a:pPr marL="396240" marR="5080" indent="-384175">
              <a:lnSpc>
                <a:spcPct val="147200"/>
              </a:lnSpc>
              <a:spcBef>
                <a:spcPts val="245"/>
              </a:spcBef>
              <a:buSzPct val="141176"/>
              <a:buFont typeface="Arial MT"/>
              <a:buChar char="•"/>
              <a:tabLst>
                <a:tab pos="396240" algn="l"/>
              </a:tabLst>
            </a:pPr>
            <a:r>
              <a:rPr dirty="0" sz="1700" spc="-25">
                <a:latin typeface="Cambria"/>
                <a:cs typeface="Cambria"/>
              </a:rPr>
              <a:t>Problem</a:t>
            </a:r>
            <a:r>
              <a:rPr dirty="0" sz="1700" spc="20">
                <a:latin typeface="Cambria"/>
                <a:cs typeface="Cambria"/>
              </a:rPr>
              <a:t> </a:t>
            </a:r>
            <a:r>
              <a:rPr dirty="0" sz="1700" spc="-40">
                <a:latin typeface="Cambria"/>
                <a:cs typeface="Cambria"/>
              </a:rPr>
              <a:t>Description</a:t>
            </a:r>
            <a:r>
              <a:rPr dirty="0" sz="1700" spc="-40">
                <a:latin typeface="Trebuchet MS"/>
                <a:cs typeface="Trebuchet MS"/>
              </a:rPr>
              <a:t>:In</a:t>
            </a:r>
            <a:r>
              <a:rPr dirty="0" sz="1700" spc="-16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today’s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globalized</a:t>
            </a:r>
            <a:r>
              <a:rPr dirty="0" sz="1700" spc="-125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job</a:t>
            </a:r>
            <a:r>
              <a:rPr dirty="0" sz="1700" spc="-150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market,</a:t>
            </a:r>
            <a:r>
              <a:rPr dirty="0" sz="1700" spc="-75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job</a:t>
            </a:r>
            <a:r>
              <a:rPr dirty="0" sz="1700" spc="-9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seekers</a:t>
            </a:r>
            <a:r>
              <a:rPr dirty="0" sz="1700" spc="-114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often</a:t>
            </a:r>
            <a:r>
              <a:rPr dirty="0" sz="1700" spc="-13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face</a:t>
            </a:r>
            <a:r>
              <a:rPr dirty="0" sz="1700" spc="-10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multiple</a:t>
            </a:r>
            <a:r>
              <a:rPr dirty="0" sz="1700" spc="-10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challenges</a:t>
            </a:r>
            <a:r>
              <a:rPr dirty="0" sz="1700" spc="-8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when </a:t>
            </a:r>
            <a:r>
              <a:rPr dirty="0" sz="1700" spc="-10">
                <a:latin typeface="Trebuchet MS"/>
                <a:cs typeface="Trebuchet MS"/>
              </a:rPr>
              <a:t>applying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for</a:t>
            </a:r>
            <a:r>
              <a:rPr dirty="0" sz="1700" spc="-17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positions</a:t>
            </a:r>
            <a:r>
              <a:rPr dirty="0" sz="1700" spc="-20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across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different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regions</a:t>
            </a:r>
            <a:r>
              <a:rPr dirty="0" sz="1700" spc="-9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and</a:t>
            </a:r>
            <a:r>
              <a:rPr dirty="0" sz="1700" spc="-114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languages:</a:t>
            </a:r>
            <a:endParaRPr sz="1700">
              <a:latin typeface="Trebuchet MS"/>
              <a:cs typeface="Trebuchet MS"/>
            </a:endParaRPr>
          </a:p>
          <a:p>
            <a:pPr marL="396240" indent="-380365">
              <a:lnSpc>
                <a:spcPct val="100000"/>
              </a:lnSpc>
              <a:spcBef>
                <a:spcPts val="1585"/>
              </a:spcBef>
              <a:buSzPct val="141176"/>
              <a:buFont typeface="Arial MT"/>
              <a:buChar char="•"/>
              <a:tabLst>
                <a:tab pos="396240" algn="l"/>
              </a:tabLst>
            </a:pPr>
            <a:r>
              <a:rPr dirty="0" sz="1700" spc="-20">
                <a:latin typeface="Trebuchet MS"/>
                <a:cs typeface="Trebuchet MS"/>
              </a:rPr>
              <a:t>Language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Barriers</a:t>
            </a:r>
            <a:endParaRPr sz="1700">
              <a:latin typeface="Trebuchet MS"/>
              <a:cs typeface="Trebuchet MS"/>
            </a:endParaRPr>
          </a:p>
          <a:p>
            <a:pPr marL="396240" indent="-380365">
              <a:lnSpc>
                <a:spcPct val="100000"/>
              </a:lnSpc>
              <a:spcBef>
                <a:spcPts val="1590"/>
              </a:spcBef>
              <a:buSzPct val="141176"/>
              <a:buFont typeface="Arial MT"/>
              <a:buChar char="•"/>
              <a:tabLst>
                <a:tab pos="396240" algn="l"/>
              </a:tabLst>
            </a:pPr>
            <a:r>
              <a:rPr dirty="0" sz="1700" spc="-30">
                <a:latin typeface="Trebuchet MS"/>
                <a:cs typeface="Trebuchet MS"/>
              </a:rPr>
              <a:t>Most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25">
                <a:latin typeface="Trebuchet MS"/>
                <a:cs typeface="Trebuchet MS"/>
              </a:rPr>
              <a:t>job</a:t>
            </a:r>
            <a:r>
              <a:rPr dirty="0" sz="1700" spc="-6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portals</a:t>
            </a:r>
            <a:r>
              <a:rPr dirty="0" sz="1700" spc="-8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are</a:t>
            </a:r>
            <a:r>
              <a:rPr dirty="0" sz="1700" spc="-18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designed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for</a:t>
            </a:r>
            <a:r>
              <a:rPr dirty="0" sz="1700" spc="-5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English-</a:t>
            </a:r>
            <a:r>
              <a:rPr dirty="0" sz="1700" spc="-25">
                <a:latin typeface="Trebuchet MS"/>
                <a:cs typeface="Trebuchet MS"/>
              </a:rPr>
              <a:t>speaking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users.</a:t>
            </a:r>
            <a:endParaRPr sz="1700">
              <a:latin typeface="Trebuchet MS"/>
              <a:cs typeface="Trebuchet MS"/>
            </a:endParaRPr>
          </a:p>
          <a:p>
            <a:pPr marL="396240" marR="429259" indent="-384175">
              <a:lnSpc>
                <a:spcPct val="144600"/>
              </a:lnSpc>
              <a:spcBef>
                <a:spcPts val="825"/>
              </a:spcBef>
              <a:buSzPct val="141176"/>
              <a:buFont typeface="Arial MT"/>
              <a:buChar char="•"/>
              <a:tabLst>
                <a:tab pos="396240" algn="l"/>
              </a:tabLst>
            </a:pPr>
            <a:r>
              <a:rPr dirty="0" sz="1700" spc="-35">
                <a:latin typeface="Trebuchet MS"/>
                <a:cs typeface="Trebuchet MS"/>
              </a:rPr>
              <a:t>Candidates</a:t>
            </a:r>
            <a:r>
              <a:rPr dirty="0" sz="1700" spc="-8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from</a:t>
            </a:r>
            <a:r>
              <a:rPr dirty="0" sz="1700" spc="-165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regional</a:t>
            </a:r>
            <a:r>
              <a:rPr dirty="0" sz="1700" spc="-18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backgrounds</a:t>
            </a:r>
            <a:r>
              <a:rPr dirty="0" sz="1700" spc="-75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struggle</a:t>
            </a:r>
            <a:r>
              <a:rPr dirty="0" sz="1700" spc="-9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to</a:t>
            </a:r>
            <a:r>
              <a:rPr dirty="0" sz="1700" spc="-6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understand</a:t>
            </a:r>
            <a:r>
              <a:rPr dirty="0" sz="1700" spc="-175">
                <a:latin typeface="Trebuchet MS"/>
                <a:cs typeface="Trebuchet MS"/>
              </a:rPr>
              <a:t> </a:t>
            </a:r>
            <a:r>
              <a:rPr dirty="0" sz="1700" spc="-25">
                <a:latin typeface="Trebuchet MS"/>
                <a:cs typeface="Trebuchet MS"/>
              </a:rPr>
              <a:t>and</a:t>
            </a:r>
            <a:r>
              <a:rPr dirty="0" sz="1700" spc="-170">
                <a:latin typeface="Trebuchet MS"/>
                <a:cs typeface="Trebuchet MS"/>
              </a:rPr>
              <a:t> </a:t>
            </a:r>
            <a:r>
              <a:rPr dirty="0" sz="1700" spc="-25">
                <a:latin typeface="Trebuchet MS"/>
                <a:cs typeface="Trebuchet MS"/>
              </a:rPr>
              <a:t>apply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for</a:t>
            </a:r>
            <a:r>
              <a:rPr dirty="0" sz="1700" spc="-16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opportunities</a:t>
            </a:r>
            <a:r>
              <a:rPr dirty="0" sz="1700" spc="-16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in</a:t>
            </a:r>
            <a:r>
              <a:rPr dirty="0" sz="1700" spc="-15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other languages.</a:t>
            </a:r>
            <a:endParaRPr sz="1700">
              <a:latin typeface="Trebuchet MS"/>
              <a:cs typeface="Trebuchet MS"/>
            </a:endParaRPr>
          </a:p>
          <a:p>
            <a:pPr marL="396240" indent="-380365">
              <a:lnSpc>
                <a:spcPct val="100000"/>
              </a:lnSpc>
              <a:spcBef>
                <a:spcPts val="1614"/>
              </a:spcBef>
              <a:buSzPct val="141176"/>
              <a:buFont typeface="Arial MT"/>
              <a:buChar char="•"/>
              <a:tabLst>
                <a:tab pos="396240" algn="l"/>
              </a:tabLst>
            </a:pPr>
            <a:r>
              <a:rPr dirty="0" sz="1700" spc="-30">
                <a:latin typeface="Trebuchet MS"/>
                <a:cs typeface="Trebuchet MS"/>
              </a:rPr>
              <a:t>Lack</a:t>
            </a:r>
            <a:r>
              <a:rPr dirty="0" sz="1700" spc="-114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of</a:t>
            </a:r>
            <a:r>
              <a:rPr dirty="0" sz="1700" spc="-10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Personalized</a:t>
            </a:r>
            <a:r>
              <a:rPr dirty="0" sz="1700" spc="-14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Recommendations</a:t>
            </a:r>
            <a:endParaRPr sz="1700">
              <a:latin typeface="Trebuchet MS"/>
              <a:cs typeface="Trebuchet MS"/>
            </a:endParaRPr>
          </a:p>
          <a:p>
            <a:pPr marL="396240" indent="-380365">
              <a:lnSpc>
                <a:spcPct val="100000"/>
              </a:lnSpc>
              <a:spcBef>
                <a:spcPts val="1560"/>
              </a:spcBef>
              <a:buSzPct val="141176"/>
              <a:buFont typeface="Arial MT"/>
              <a:buChar char="•"/>
              <a:tabLst>
                <a:tab pos="396240" algn="l"/>
              </a:tabLst>
            </a:pPr>
            <a:r>
              <a:rPr dirty="0" sz="1700" spc="-50">
                <a:latin typeface="Trebuchet MS"/>
                <a:cs typeface="Trebuchet MS"/>
              </a:rPr>
              <a:t>Existing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job</a:t>
            </a:r>
            <a:r>
              <a:rPr dirty="0" sz="1700" spc="-195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portals</a:t>
            </a:r>
            <a:r>
              <a:rPr dirty="0" sz="1700" spc="-90">
                <a:latin typeface="Trebuchet MS"/>
                <a:cs typeface="Trebuchet MS"/>
              </a:rPr>
              <a:t> </a:t>
            </a:r>
            <a:r>
              <a:rPr dirty="0" sz="1700" spc="-55">
                <a:latin typeface="Trebuchet MS"/>
                <a:cs typeface="Trebuchet MS"/>
              </a:rPr>
              <a:t>provide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generic</a:t>
            </a:r>
            <a:r>
              <a:rPr dirty="0" sz="1700" spc="-10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results.</a:t>
            </a:r>
            <a:endParaRPr sz="1700">
              <a:latin typeface="Trebuchet MS"/>
              <a:cs typeface="Trebuchet MS"/>
            </a:endParaRPr>
          </a:p>
          <a:p>
            <a:pPr marL="396240" indent="-380365">
              <a:lnSpc>
                <a:spcPct val="100000"/>
              </a:lnSpc>
              <a:spcBef>
                <a:spcPts val="1585"/>
              </a:spcBef>
              <a:buSzPct val="141176"/>
              <a:buFont typeface="Arial MT"/>
              <a:buChar char="•"/>
              <a:tabLst>
                <a:tab pos="396240" algn="l"/>
              </a:tabLst>
            </a:pPr>
            <a:r>
              <a:rPr dirty="0" sz="1700" spc="-35">
                <a:latin typeface="Trebuchet MS"/>
                <a:cs typeface="Trebuchet MS"/>
              </a:rPr>
              <a:t>They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do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not</a:t>
            </a:r>
            <a:r>
              <a:rPr dirty="0" sz="1700" spc="-12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match</a:t>
            </a:r>
            <a:r>
              <a:rPr dirty="0" sz="1700" spc="-15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resumes</a:t>
            </a:r>
            <a:r>
              <a:rPr dirty="0" sz="1700" spc="-8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effectively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with</a:t>
            </a:r>
            <a:r>
              <a:rPr dirty="0" sz="1700" spc="-16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job</a:t>
            </a:r>
            <a:r>
              <a:rPr dirty="0" sz="1700" spc="-17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postings,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reducing</a:t>
            </a:r>
            <a:r>
              <a:rPr dirty="0" sz="1700" spc="-13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chances</a:t>
            </a:r>
            <a:r>
              <a:rPr dirty="0" sz="1700" spc="-19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of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selection.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3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100"/>
              <a:t> </a:t>
            </a:r>
            <a:r>
              <a:rPr dirty="0"/>
              <a:t>Statement</a:t>
            </a:r>
            <a:r>
              <a:rPr dirty="0" spc="135"/>
              <a:t> </a:t>
            </a:r>
            <a:r>
              <a:rPr dirty="0" spc="-10"/>
              <a:t>Number: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8692" y="920876"/>
            <a:ext cx="8209280" cy="267906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725"/>
              </a:spcBef>
              <a:buSzPct val="141176"/>
              <a:buFont typeface="Arial MT"/>
              <a:buChar char="•"/>
              <a:tabLst>
                <a:tab pos="393065" algn="l"/>
              </a:tabLst>
            </a:pPr>
            <a:r>
              <a:rPr dirty="0" sz="1700" spc="-10">
                <a:latin typeface="Trebuchet MS"/>
                <a:cs typeface="Trebuchet MS"/>
              </a:rPr>
              <a:t>Manual</a:t>
            </a:r>
            <a:r>
              <a:rPr dirty="0" sz="1700" spc="-6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and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Time-</a:t>
            </a:r>
            <a:r>
              <a:rPr dirty="0" sz="1700" spc="-10">
                <a:latin typeface="Trebuchet MS"/>
                <a:cs typeface="Trebuchet MS"/>
              </a:rPr>
              <a:t>Consuming</a:t>
            </a:r>
            <a:r>
              <a:rPr dirty="0" sz="1700" spc="-17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Process</a:t>
            </a:r>
            <a:endParaRPr sz="1700">
              <a:latin typeface="Trebuchet MS"/>
              <a:cs typeface="Trebuchet MS"/>
            </a:endParaRPr>
          </a:p>
          <a:p>
            <a:pPr marL="393065" indent="-380365">
              <a:lnSpc>
                <a:spcPct val="100000"/>
              </a:lnSpc>
              <a:spcBef>
                <a:spcPts val="1590"/>
              </a:spcBef>
              <a:buSzPct val="141176"/>
              <a:buFont typeface="Arial MT"/>
              <a:buChar char="•"/>
              <a:tabLst>
                <a:tab pos="393065" algn="l"/>
              </a:tabLst>
            </a:pPr>
            <a:r>
              <a:rPr dirty="0" sz="1700" spc="-40">
                <a:latin typeface="Trebuchet MS"/>
                <a:cs typeface="Trebuchet MS"/>
              </a:rPr>
              <a:t>Applicants</a:t>
            </a:r>
            <a:r>
              <a:rPr dirty="0" sz="1700" spc="-150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need</a:t>
            </a:r>
            <a:r>
              <a:rPr dirty="0" sz="1700" spc="-16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to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search, </a:t>
            </a:r>
            <a:r>
              <a:rPr dirty="0" sz="1700" spc="-40">
                <a:latin typeface="Trebuchet MS"/>
                <a:cs typeface="Trebuchet MS"/>
              </a:rPr>
              <a:t>translate,</a:t>
            </a:r>
            <a:r>
              <a:rPr dirty="0" sz="1700" spc="-140">
                <a:latin typeface="Trebuchet MS"/>
                <a:cs typeface="Trebuchet MS"/>
              </a:rPr>
              <a:t> </a:t>
            </a:r>
            <a:r>
              <a:rPr dirty="0" sz="1700" spc="-25">
                <a:latin typeface="Trebuchet MS"/>
                <a:cs typeface="Trebuchet MS"/>
              </a:rPr>
              <a:t>and</a:t>
            </a:r>
            <a:r>
              <a:rPr dirty="0" sz="1700" spc="-16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tailor</a:t>
            </a:r>
            <a:r>
              <a:rPr dirty="0" sz="1700" spc="-150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resumes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for</a:t>
            </a:r>
            <a:r>
              <a:rPr dirty="0" sz="1700" spc="-14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each</a:t>
            </a:r>
            <a:r>
              <a:rPr dirty="0" sz="1700" spc="-175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job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manually.</a:t>
            </a:r>
            <a:endParaRPr sz="1700">
              <a:latin typeface="Trebuchet MS"/>
              <a:cs typeface="Trebuchet MS"/>
            </a:endParaRPr>
          </a:p>
          <a:p>
            <a:pPr marL="393065" indent="-380365">
              <a:lnSpc>
                <a:spcPct val="100000"/>
              </a:lnSpc>
              <a:spcBef>
                <a:spcPts val="1560"/>
              </a:spcBef>
              <a:buSzPct val="141176"/>
              <a:buFont typeface="Arial MT"/>
              <a:buChar char="•"/>
              <a:tabLst>
                <a:tab pos="393065" algn="l"/>
              </a:tabLst>
            </a:pPr>
            <a:r>
              <a:rPr dirty="0" sz="1700" spc="-20">
                <a:latin typeface="Trebuchet MS"/>
                <a:cs typeface="Trebuchet MS"/>
              </a:rPr>
              <a:t>This</a:t>
            </a:r>
            <a:r>
              <a:rPr dirty="0" sz="1700" spc="-160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delays</a:t>
            </a:r>
            <a:r>
              <a:rPr dirty="0" sz="1700" spc="-70">
                <a:latin typeface="Trebuchet MS"/>
                <a:cs typeface="Trebuchet MS"/>
              </a:rPr>
              <a:t> </a:t>
            </a:r>
            <a:r>
              <a:rPr dirty="0" sz="1700" spc="-25">
                <a:latin typeface="Trebuchet MS"/>
                <a:cs typeface="Trebuchet MS"/>
              </a:rPr>
              <a:t>applications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and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reduces</a:t>
            </a:r>
            <a:r>
              <a:rPr dirty="0" sz="1700" spc="-7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efficiency.</a:t>
            </a:r>
            <a:endParaRPr sz="1700">
              <a:latin typeface="Trebuchet MS"/>
              <a:cs typeface="Trebuchet MS"/>
            </a:endParaRPr>
          </a:p>
          <a:p>
            <a:pPr marL="393065" indent="-380365">
              <a:lnSpc>
                <a:spcPct val="100000"/>
              </a:lnSpc>
              <a:spcBef>
                <a:spcPts val="1590"/>
              </a:spcBef>
              <a:buSzPct val="141176"/>
              <a:buFont typeface="Arial MT"/>
              <a:buChar char="•"/>
              <a:tabLst>
                <a:tab pos="393065" algn="l"/>
              </a:tabLst>
            </a:pPr>
            <a:r>
              <a:rPr dirty="0" sz="1700" spc="-45">
                <a:latin typeface="Trebuchet MS"/>
                <a:cs typeface="Trebuchet MS"/>
              </a:rPr>
              <a:t>Limited</a:t>
            </a:r>
            <a:r>
              <a:rPr dirty="0" sz="1700" spc="-16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Multilingual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Support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in</a:t>
            </a:r>
            <a:r>
              <a:rPr dirty="0" sz="1700" spc="-17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Current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Systems</a:t>
            </a:r>
            <a:endParaRPr sz="1700">
              <a:latin typeface="Trebuchet MS"/>
              <a:cs typeface="Trebuchet MS"/>
            </a:endParaRPr>
          </a:p>
          <a:p>
            <a:pPr marL="393065" indent="-380365">
              <a:lnSpc>
                <a:spcPct val="100000"/>
              </a:lnSpc>
              <a:spcBef>
                <a:spcPts val="1585"/>
              </a:spcBef>
              <a:buSzPct val="141176"/>
              <a:buFont typeface="Arial MT"/>
              <a:buChar char="•"/>
              <a:tabLst>
                <a:tab pos="393065" algn="l"/>
              </a:tabLst>
            </a:pPr>
            <a:r>
              <a:rPr dirty="0" sz="1700" spc="-55">
                <a:latin typeface="Trebuchet MS"/>
                <a:cs typeface="Trebuchet MS"/>
              </a:rPr>
              <a:t>Platforms</a:t>
            </a:r>
            <a:r>
              <a:rPr dirty="0" sz="1700" spc="-114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like</a:t>
            </a:r>
            <a:r>
              <a:rPr dirty="0" sz="1700" spc="-100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LinkedIn</a:t>
            </a:r>
            <a:r>
              <a:rPr dirty="0" sz="1700" spc="-19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and</a:t>
            </a:r>
            <a:r>
              <a:rPr dirty="0" sz="1700" spc="-155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Naukri</a:t>
            </a:r>
            <a:r>
              <a:rPr dirty="0" sz="1700" spc="-16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offer</a:t>
            </a:r>
            <a:r>
              <a:rPr dirty="0" sz="1700" spc="-175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very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limited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translation/localization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features.</a:t>
            </a:r>
            <a:endParaRPr sz="1700">
              <a:latin typeface="Trebuchet MS"/>
              <a:cs typeface="Trebuchet MS"/>
            </a:endParaRPr>
          </a:p>
          <a:p>
            <a:pPr marL="393065" indent="-380365">
              <a:lnSpc>
                <a:spcPct val="100000"/>
              </a:lnSpc>
              <a:spcBef>
                <a:spcPts val="1560"/>
              </a:spcBef>
              <a:buSzPct val="141176"/>
              <a:buFont typeface="Arial MT"/>
              <a:buChar char="•"/>
              <a:tabLst>
                <a:tab pos="393065" algn="l"/>
              </a:tabLst>
            </a:pPr>
            <a:r>
              <a:rPr dirty="0" sz="1700" spc="-35">
                <a:latin typeface="Trebuchet MS"/>
                <a:cs typeface="Trebuchet MS"/>
              </a:rPr>
              <a:t>Regional</a:t>
            </a:r>
            <a:r>
              <a:rPr dirty="0" sz="1700" spc="-75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candidates</a:t>
            </a:r>
            <a:r>
              <a:rPr dirty="0" sz="1700" spc="-8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often</a:t>
            </a:r>
            <a:r>
              <a:rPr dirty="0" sz="1700" spc="-130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miss</a:t>
            </a:r>
            <a:r>
              <a:rPr dirty="0" sz="1700" spc="-85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out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on</a:t>
            </a:r>
            <a:r>
              <a:rPr dirty="0" sz="1700" spc="-70">
                <a:latin typeface="Trebuchet MS"/>
                <a:cs typeface="Trebuchet MS"/>
              </a:rPr>
              <a:t> </a:t>
            </a:r>
            <a:r>
              <a:rPr dirty="0" sz="1700" spc="-40">
                <a:latin typeface="Trebuchet MS"/>
                <a:cs typeface="Trebuchet MS"/>
              </a:rPr>
              <a:t>opportunities</a:t>
            </a:r>
            <a:r>
              <a:rPr dirty="0" sz="1700" spc="-7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outside</a:t>
            </a:r>
            <a:r>
              <a:rPr dirty="0" sz="1700" spc="-10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their</a:t>
            </a:r>
            <a:r>
              <a:rPr dirty="0" sz="1700" spc="-14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language</a:t>
            </a:r>
            <a:r>
              <a:rPr dirty="0" sz="1700" spc="-7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domain.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875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dirty="0" spc="45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Problem</a:t>
            </a:r>
            <a:r>
              <a:rPr dirty="0" spc="65"/>
              <a:t> </a:t>
            </a:r>
            <a:r>
              <a:rPr dirty="0" spc="-10"/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5517" y="1165859"/>
            <a:ext cx="10133330" cy="4088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mbria"/>
                <a:cs typeface="Cambria"/>
              </a:rPr>
              <a:t>Technology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Stack</a:t>
            </a:r>
            <a:r>
              <a:rPr dirty="0" sz="2400" spc="-10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Components:</a:t>
            </a:r>
            <a:endParaRPr sz="2400">
              <a:latin typeface="Cambria"/>
              <a:cs typeface="Cambria"/>
            </a:endParaRPr>
          </a:p>
          <a:p>
            <a:pPr marL="396240" marR="327660" indent="-384175">
              <a:lnSpc>
                <a:spcPct val="146400"/>
              </a:lnSpc>
              <a:spcBef>
                <a:spcPts val="1975"/>
              </a:spcBef>
              <a:buSzPct val="111627"/>
              <a:buFont typeface="Arial MT"/>
              <a:buChar char="•"/>
              <a:tabLst>
                <a:tab pos="396240" algn="l"/>
              </a:tabLst>
            </a:pPr>
            <a:r>
              <a:rPr dirty="0" sz="2150">
                <a:latin typeface="Cambria"/>
                <a:cs typeface="Cambria"/>
              </a:rPr>
              <a:t>Job</a:t>
            </a:r>
            <a:r>
              <a:rPr dirty="0" sz="2150" spc="-4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seekers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face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significant</a:t>
            </a:r>
            <a:r>
              <a:rPr dirty="0" sz="2150" spc="-6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challenges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while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applying</a:t>
            </a:r>
            <a:r>
              <a:rPr dirty="0" sz="2150" spc="-3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for</a:t>
            </a:r>
            <a:r>
              <a:rPr dirty="0" sz="2150" spc="19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jobs</a:t>
            </a:r>
            <a:r>
              <a:rPr dirty="0" sz="2150" spc="-4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across</a:t>
            </a:r>
            <a:r>
              <a:rPr dirty="0" sz="2150" spc="-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regions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and </a:t>
            </a:r>
            <a:r>
              <a:rPr dirty="0" sz="2150">
                <a:latin typeface="Cambria"/>
                <a:cs typeface="Cambria"/>
              </a:rPr>
              <a:t>countries,</a:t>
            </a:r>
            <a:r>
              <a:rPr dirty="0" sz="2150" spc="-5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such</a:t>
            </a:r>
            <a:r>
              <a:rPr dirty="0" sz="2150" spc="-65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as:</a:t>
            </a:r>
            <a:endParaRPr sz="2150">
              <a:latin typeface="Cambria"/>
              <a:cs typeface="Cambria"/>
            </a:endParaRPr>
          </a:p>
          <a:p>
            <a:pPr marL="396240" indent="-380365">
              <a:lnSpc>
                <a:spcPct val="100000"/>
              </a:lnSpc>
              <a:spcBef>
                <a:spcPts val="1720"/>
              </a:spcBef>
              <a:buSzPct val="111627"/>
              <a:buFont typeface="Arial MT"/>
              <a:buChar char="•"/>
              <a:tabLst>
                <a:tab pos="396240" algn="l"/>
              </a:tabLst>
            </a:pPr>
            <a:r>
              <a:rPr dirty="0" sz="2150">
                <a:latin typeface="Cambria"/>
                <a:cs typeface="Cambria"/>
              </a:rPr>
              <a:t>Language</a:t>
            </a:r>
            <a:r>
              <a:rPr dirty="0" sz="2150" spc="3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barriers</a:t>
            </a:r>
            <a:r>
              <a:rPr dirty="0" sz="2150" spc="4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that</a:t>
            </a:r>
            <a:r>
              <a:rPr dirty="0" sz="2150" spc="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restrict</a:t>
            </a:r>
            <a:r>
              <a:rPr dirty="0" sz="2150" spc="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access</a:t>
            </a:r>
            <a:r>
              <a:rPr dirty="0" sz="2150" spc="5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to</a:t>
            </a:r>
            <a:r>
              <a:rPr dirty="0" sz="2150" spc="7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job</a:t>
            </a:r>
            <a:r>
              <a:rPr dirty="0" sz="2150" spc="95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opportunities.</a:t>
            </a:r>
            <a:endParaRPr sz="2150">
              <a:latin typeface="Cambria"/>
              <a:cs typeface="Cambria"/>
            </a:endParaRPr>
          </a:p>
          <a:p>
            <a:pPr marL="396240" indent="-380365">
              <a:lnSpc>
                <a:spcPct val="100000"/>
              </a:lnSpc>
              <a:spcBef>
                <a:spcPts val="1725"/>
              </a:spcBef>
              <a:buSzPct val="111627"/>
              <a:buFont typeface="Arial MT"/>
              <a:buChar char="•"/>
              <a:tabLst>
                <a:tab pos="396240" algn="l"/>
              </a:tabLst>
            </a:pPr>
            <a:r>
              <a:rPr dirty="0" sz="2150">
                <a:latin typeface="Cambria"/>
                <a:cs typeface="Cambria"/>
              </a:rPr>
              <a:t>Lack</a:t>
            </a:r>
            <a:r>
              <a:rPr dirty="0" sz="2150" spc="114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of</a:t>
            </a:r>
            <a:r>
              <a:rPr dirty="0" sz="2150" spc="10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personalized</a:t>
            </a:r>
            <a:r>
              <a:rPr dirty="0" sz="2150" spc="11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job</a:t>
            </a:r>
            <a:r>
              <a:rPr dirty="0" sz="2150" spc="75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recommendations.</a:t>
            </a:r>
            <a:endParaRPr sz="2150">
              <a:latin typeface="Cambria"/>
              <a:cs typeface="Cambria"/>
            </a:endParaRPr>
          </a:p>
          <a:p>
            <a:pPr marL="396240" indent="-380365">
              <a:lnSpc>
                <a:spcPct val="100000"/>
              </a:lnSpc>
              <a:spcBef>
                <a:spcPts val="1820"/>
              </a:spcBef>
              <a:buSzPct val="111627"/>
              <a:buFont typeface="Arial MT"/>
              <a:buChar char="•"/>
              <a:tabLst>
                <a:tab pos="396240" algn="l"/>
              </a:tabLst>
            </a:pPr>
            <a:r>
              <a:rPr dirty="0" sz="2150">
                <a:latin typeface="Cambria"/>
                <a:cs typeface="Cambria"/>
              </a:rPr>
              <a:t>Manual</a:t>
            </a:r>
            <a:r>
              <a:rPr dirty="0" sz="2150" spc="8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and</a:t>
            </a:r>
            <a:r>
              <a:rPr dirty="0" sz="2150" spc="8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time-</a:t>
            </a:r>
            <a:r>
              <a:rPr dirty="0" sz="2150">
                <a:latin typeface="Cambria"/>
                <a:cs typeface="Cambria"/>
              </a:rPr>
              <a:t>consuming</a:t>
            </a:r>
            <a:r>
              <a:rPr dirty="0" sz="2150" spc="8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application</a:t>
            </a:r>
            <a:r>
              <a:rPr dirty="0" sz="2150" spc="12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processes.</a:t>
            </a:r>
            <a:endParaRPr sz="2150">
              <a:latin typeface="Cambria"/>
              <a:cs typeface="Cambria"/>
            </a:endParaRPr>
          </a:p>
          <a:p>
            <a:pPr marL="396240" marR="5080" indent="-384175">
              <a:lnSpc>
                <a:spcPct val="100899"/>
              </a:lnSpc>
              <a:spcBef>
                <a:spcPts val="1375"/>
              </a:spcBef>
              <a:buSzPct val="111627"/>
              <a:buFont typeface="Arial MT"/>
              <a:buChar char="•"/>
              <a:tabLst>
                <a:tab pos="396240" algn="l"/>
              </a:tabLst>
            </a:pPr>
            <a:r>
              <a:rPr dirty="0" sz="2150">
                <a:latin typeface="Cambria"/>
                <a:cs typeface="Cambria"/>
              </a:rPr>
              <a:t>The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project</a:t>
            </a:r>
            <a:r>
              <a:rPr dirty="0" sz="2150" spc="-4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aims</a:t>
            </a:r>
            <a:r>
              <a:rPr dirty="0" sz="2150" spc="-6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to</a:t>
            </a:r>
            <a:r>
              <a:rPr dirty="0" sz="2150" spc="-3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overcome</a:t>
            </a:r>
            <a:r>
              <a:rPr dirty="0" sz="2150" spc="17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these</a:t>
            </a:r>
            <a:r>
              <a:rPr dirty="0" sz="2150" spc="15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challenges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using</a:t>
            </a:r>
            <a:r>
              <a:rPr dirty="0" sz="2150" spc="-5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Artificial</a:t>
            </a:r>
            <a:r>
              <a:rPr dirty="0" sz="2150" spc="-45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Intelligence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(AI)</a:t>
            </a:r>
            <a:r>
              <a:rPr dirty="0" sz="2150" spc="190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and </a:t>
            </a:r>
            <a:r>
              <a:rPr dirty="0" sz="2150">
                <a:latin typeface="Cambria"/>
                <a:cs typeface="Cambria"/>
              </a:rPr>
              <a:t>Natural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Language</a:t>
            </a:r>
            <a:r>
              <a:rPr dirty="0" sz="2150" spc="15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Processing</a:t>
            </a:r>
            <a:r>
              <a:rPr dirty="0" sz="2150" spc="17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(NLP)</a:t>
            </a:r>
            <a:r>
              <a:rPr dirty="0" sz="2150" spc="16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to</a:t>
            </a:r>
            <a:r>
              <a:rPr dirty="0" sz="2150" spc="1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create</a:t>
            </a:r>
            <a:r>
              <a:rPr dirty="0" sz="2150" spc="15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</a:t>
            </a:r>
            <a:r>
              <a:rPr dirty="0" sz="2150" spc="16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multilingual</a:t>
            </a:r>
            <a:r>
              <a:rPr dirty="0" sz="2150" spc="-4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job</a:t>
            </a:r>
            <a:r>
              <a:rPr dirty="0" sz="2150" spc="17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assistant.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8692" y="1226184"/>
            <a:ext cx="9528810" cy="3374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 spc="-10">
                <a:latin typeface="Cambria"/>
                <a:cs typeface="Cambria"/>
              </a:rPr>
              <a:t>Build</a:t>
            </a:r>
            <a:r>
              <a:rPr dirty="0" sz="2400" spc="-11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an</a:t>
            </a:r>
            <a:r>
              <a:rPr dirty="0" sz="2400" spc="-95">
                <a:latin typeface="Cambria"/>
                <a:cs typeface="Cambria"/>
              </a:rPr>
              <a:t> </a:t>
            </a:r>
            <a:r>
              <a:rPr dirty="0" sz="2400" spc="-30">
                <a:latin typeface="Cambria"/>
                <a:cs typeface="Cambria"/>
              </a:rPr>
              <a:t>AI-</a:t>
            </a:r>
            <a:r>
              <a:rPr dirty="0" sz="2400" spc="-20">
                <a:latin typeface="Cambria"/>
                <a:cs typeface="Cambria"/>
              </a:rPr>
              <a:t>driven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job</a:t>
            </a:r>
            <a:r>
              <a:rPr dirty="0" sz="2400" spc="-9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assistant</a:t>
            </a:r>
            <a:r>
              <a:rPr dirty="0" sz="2400" spc="-1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with</a:t>
            </a:r>
            <a:r>
              <a:rPr dirty="0" sz="2400" spc="-45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multilingual</a:t>
            </a:r>
            <a:r>
              <a:rPr dirty="0" sz="2400" spc="-9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support.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89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 spc="-10">
                <a:latin typeface="Cambria"/>
                <a:cs typeface="Cambria"/>
              </a:rPr>
              <a:t>Provide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real-time</a:t>
            </a:r>
            <a:r>
              <a:rPr dirty="0" sz="2400" spc="-10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personalized</a:t>
            </a:r>
            <a:r>
              <a:rPr dirty="0" sz="2400" spc="-114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job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recommendations.</a:t>
            </a:r>
            <a:endParaRPr sz="2400">
              <a:latin typeface="Cambria"/>
              <a:cs typeface="Cambria"/>
            </a:endParaRPr>
          </a:p>
          <a:p>
            <a:pPr marL="393065" marR="5080" indent="-381000">
              <a:lnSpc>
                <a:spcPct val="147600"/>
              </a:lnSpc>
              <a:spcBef>
                <a:spcPts val="60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Enable</a:t>
            </a:r>
            <a:r>
              <a:rPr dirty="0" sz="2400" spc="-9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resume</a:t>
            </a:r>
            <a:r>
              <a:rPr dirty="0" sz="2400" spc="-12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parsing</a:t>
            </a:r>
            <a:r>
              <a:rPr dirty="0" sz="2400" spc="-12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9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keyword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optimization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improve</a:t>
            </a:r>
            <a:r>
              <a:rPr dirty="0" sz="2400" spc="-12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selection chances.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 spc="-10">
                <a:latin typeface="Cambria"/>
                <a:cs typeface="Cambria"/>
              </a:rPr>
              <a:t>Integrate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interactive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chatbot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guide</a:t>
            </a:r>
            <a:r>
              <a:rPr dirty="0" sz="2400" spc="-10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users.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 spc="-10">
                <a:latin typeface="Cambria"/>
                <a:cs typeface="Cambria"/>
              </a:rPr>
              <a:t>Ensure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cross-</a:t>
            </a:r>
            <a:r>
              <a:rPr dirty="0" sz="2400" spc="-20">
                <a:latin typeface="Cambria"/>
                <a:cs typeface="Cambria"/>
              </a:rPr>
              <a:t>platform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accessibility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(web</a:t>
            </a:r>
            <a:r>
              <a:rPr dirty="0" sz="2400" spc="-2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&amp;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mobile).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4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Background</a:t>
            </a:r>
            <a:r>
              <a:rPr dirty="0" spc="15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&amp;</a:t>
            </a:r>
            <a:r>
              <a:rPr dirty="0" spc="14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Related</a:t>
            </a:r>
            <a:r>
              <a:rPr dirty="0" spc="145">
                <a:latin typeface="Verdana"/>
                <a:cs typeface="Verdana"/>
              </a:rPr>
              <a:t> </a:t>
            </a:r>
            <a:r>
              <a:rPr dirty="0" spc="-20">
                <a:latin typeface="Verdana"/>
                <a:cs typeface="Verdana"/>
              </a:rPr>
              <a:t>Work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5517" y="1226184"/>
            <a:ext cx="10378440" cy="3825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240" indent="-3803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6240" algn="l"/>
              </a:tabLst>
            </a:pPr>
            <a:r>
              <a:rPr dirty="0" sz="2400" spc="-10">
                <a:latin typeface="Cambria"/>
                <a:cs typeface="Cambria"/>
              </a:rPr>
              <a:t>Globalization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has</a:t>
            </a:r>
            <a:r>
              <a:rPr dirty="0" sz="2400" spc="-11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increased</a:t>
            </a:r>
            <a:r>
              <a:rPr dirty="0" sz="2400" spc="-10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multilingual</a:t>
            </a:r>
            <a:r>
              <a:rPr dirty="0" sz="2400" spc="-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job</a:t>
            </a:r>
            <a:r>
              <a:rPr dirty="0" sz="2400" spc="-114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applications.</a:t>
            </a:r>
            <a:endParaRPr sz="2400">
              <a:latin typeface="Cambria"/>
              <a:cs typeface="Cambria"/>
            </a:endParaRPr>
          </a:p>
          <a:p>
            <a:pPr marL="396240" marR="5080" indent="-384175">
              <a:lnSpc>
                <a:spcPct val="146800"/>
              </a:lnSpc>
              <a:spcBef>
                <a:spcPts val="550"/>
              </a:spcBef>
              <a:buFont typeface="Arial MT"/>
              <a:buChar char="•"/>
              <a:tabLst>
                <a:tab pos="396240" algn="l"/>
              </a:tabLst>
            </a:pPr>
            <a:r>
              <a:rPr dirty="0" sz="2400">
                <a:latin typeface="Cambria"/>
                <a:cs typeface="Cambria"/>
              </a:rPr>
              <a:t>Existing</a:t>
            </a:r>
            <a:r>
              <a:rPr dirty="0" sz="2400" spc="-9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platforms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like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LinkedIn</a:t>
            </a:r>
            <a:r>
              <a:rPr dirty="0" sz="2400" spc="-10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Naukri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have</a:t>
            </a:r>
            <a:r>
              <a:rPr dirty="0" sz="2400" spc="-9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limited</a:t>
            </a:r>
            <a:r>
              <a:rPr dirty="0" sz="2400" spc="-10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multilingual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AI- </a:t>
            </a:r>
            <a:r>
              <a:rPr dirty="0" sz="2400">
                <a:latin typeface="Cambria"/>
                <a:cs typeface="Cambria"/>
              </a:rPr>
              <a:t>driven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support.</a:t>
            </a:r>
            <a:endParaRPr sz="2400">
              <a:latin typeface="Cambria"/>
              <a:cs typeface="Cambria"/>
            </a:endParaRPr>
          </a:p>
          <a:p>
            <a:pPr marL="396240" marR="363855" indent="-384175">
              <a:lnSpc>
                <a:spcPct val="146800"/>
              </a:lnSpc>
              <a:spcBef>
                <a:spcPts val="450"/>
              </a:spcBef>
              <a:buFont typeface="Arial MT"/>
              <a:buChar char="•"/>
              <a:tabLst>
                <a:tab pos="396240" algn="l"/>
              </a:tabLst>
            </a:pPr>
            <a:r>
              <a:rPr dirty="0" sz="2400">
                <a:latin typeface="Cambria"/>
                <a:cs typeface="Cambria"/>
              </a:rPr>
              <a:t>Recent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research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-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AI,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NLP,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recommendation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systems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shows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potential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-3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bridging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this</a:t>
            </a:r>
            <a:r>
              <a:rPr dirty="0" sz="2400" spc="-3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gap.</a:t>
            </a:r>
            <a:endParaRPr sz="2400">
              <a:latin typeface="Cambria"/>
              <a:cs typeface="Cambria"/>
            </a:endParaRPr>
          </a:p>
          <a:p>
            <a:pPr marL="396240" marR="521334" indent="-381000">
              <a:lnSpc>
                <a:spcPct val="151000"/>
              </a:lnSpc>
              <a:spcBef>
                <a:spcPts val="425"/>
              </a:spcBef>
              <a:buFont typeface="Arial MT"/>
              <a:buChar char="•"/>
              <a:tabLst>
                <a:tab pos="396240" algn="l"/>
              </a:tabLst>
            </a:pPr>
            <a:r>
              <a:rPr dirty="0" sz="2400">
                <a:latin typeface="Cambria"/>
                <a:cs typeface="Cambria"/>
              </a:rPr>
              <a:t>Advances</a:t>
            </a:r>
            <a:r>
              <a:rPr dirty="0" sz="2400" spc="2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machine</a:t>
            </a:r>
            <a:r>
              <a:rPr dirty="0" sz="2400" spc="-1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translation</a:t>
            </a:r>
            <a:r>
              <a:rPr dirty="0" sz="2400" spc="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(e.g.,</a:t>
            </a:r>
            <a:r>
              <a:rPr dirty="0" sz="2400" spc="4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Google</a:t>
            </a:r>
            <a:r>
              <a:rPr dirty="0" sz="2400" spc="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Translate,</a:t>
            </a:r>
            <a:r>
              <a:rPr dirty="0" sz="2400" spc="2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DeepL,</a:t>
            </a:r>
            <a:r>
              <a:rPr dirty="0" sz="2400" spc="1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Hugging Face</a:t>
            </a:r>
            <a:r>
              <a:rPr dirty="0" sz="2400" spc="-13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models)</a:t>
            </a:r>
            <a:r>
              <a:rPr dirty="0" sz="2400" spc="-9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enable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real-time</a:t>
            </a:r>
            <a:r>
              <a:rPr dirty="0" sz="2400" spc="-114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multilingual</a:t>
            </a:r>
            <a:r>
              <a:rPr dirty="0" sz="2400" spc="-11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interactions.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4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Analysis</a:t>
            </a:r>
            <a:r>
              <a:rPr dirty="0" spc="1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of</a:t>
            </a:r>
            <a:r>
              <a:rPr dirty="0" spc="11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Problem</a:t>
            </a:r>
            <a:r>
              <a:rPr dirty="0" spc="16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8692" y="1238567"/>
            <a:ext cx="9107170" cy="4210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SzPct val="87272"/>
              <a:buFont typeface="Arial MT"/>
              <a:buChar char="•"/>
              <a:tabLst>
                <a:tab pos="393065" algn="l"/>
              </a:tabLst>
            </a:pPr>
            <a:r>
              <a:rPr dirty="0" sz="2750" spc="-10">
                <a:latin typeface="Cambria"/>
                <a:cs typeface="Cambria"/>
              </a:rPr>
              <a:t>Challenges:</a:t>
            </a:r>
            <a:endParaRPr sz="275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Handling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multiple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languages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&amp;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regional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dialects.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89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Large</a:t>
            </a:r>
            <a:r>
              <a:rPr dirty="0" sz="2400" spc="-3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dataset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requirements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resumes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&amp;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job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descriptions.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95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Ensuring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accuracy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resume-</a:t>
            </a:r>
            <a:r>
              <a:rPr dirty="0" sz="2400">
                <a:latin typeface="Cambria"/>
                <a:cs typeface="Cambria"/>
              </a:rPr>
              <a:t>job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matching.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920"/>
              </a:spcBef>
              <a:buSzPct val="87272"/>
              <a:buFont typeface="Arial MT"/>
              <a:buChar char="•"/>
              <a:tabLst>
                <a:tab pos="393065" algn="l"/>
              </a:tabLst>
            </a:pPr>
            <a:r>
              <a:rPr dirty="0" sz="2750">
                <a:latin typeface="Cambria"/>
                <a:cs typeface="Cambria"/>
              </a:rPr>
              <a:t>Solution</a:t>
            </a:r>
            <a:r>
              <a:rPr dirty="0" sz="2750" spc="15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Approach:</a:t>
            </a:r>
            <a:endParaRPr sz="275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218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Use</a:t>
            </a:r>
            <a:r>
              <a:rPr dirty="0" sz="2400" spc="2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pre-</a:t>
            </a:r>
            <a:r>
              <a:rPr dirty="0" sz="2400">
                <a:latin typeface="Cambria"/>
                <a:cs typeface="Cambria"/>
              </a:rPr>
              <a:t>trained</a:t>
            </a:r>
            <a:r>
              <a:rPr dirty="0" sz="2400" spc="3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multilingual</a:t>
            </a:r>
            <a:r>
              <a:rPr dirty="0" sz="2400" spc="3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NLP</a:t>
            </a:r>
            <a:r>
              <a:rPr dirty="0" sz="2400" spc="1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models</a:t>
            </a:r>
            <a:r>
              <a:rPr dirty="0" sz="2400" spc="3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(mBERT,</a:t>
            </a:r>
            <a:r>
              <a:rPr dirty="0" sz="2400" spc="65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XLM-R).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89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Develop a</a:t>
            </a:r>
            <a:r>
              <a:rPr dirty="0" sz="2400" spc="-2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recommendation</a:t>
            </a:r>
            <a:r>
              <a:rPr dirty="0" sz="2400" spc="-3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engine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based</a:t>
            </a:r>
            <a:r>
              <a:rPr dirty="0" sz="2400" spc="3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on</a:t>
            </a:r>
            <a:r>
              <a:rPr dirty="0" sz="2400" spc="1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job-</a:t>
            </a:r>
            <a:r>
              <a:rPr dirty="0" sz="2400">
                <a:latin typeface="Cambria"/>
                <a:cs typeface="Cambria"/>
              </a:rPr>
              <a:t>resume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similarity.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4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Analysis</a:t>
            </a:r>
            <a:r>
              <a:rPr dirty="0" spc="1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of</a:t>
            </a:r>
            <a:r>
              <a:rPr dirty="0" spc="11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Problem</a:t>
            </a:r>
            <a:r>
              <a:rPr dirty="0" spc="16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8692" y="911859"/>
            <a:ext cx="62706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Build</a:t>
            </a:r>
            <a:r>
              <a:rPr dirty="0" sz="2400" spc="-10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</a:t>
            </a:r>
            <a:r>
              <a:rPr dirty="0" sz="2400" spc="-11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AI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chatbot</a:t>
            </a:r>
            <a:r>
              <a:rPr dirty="0" sz="2400" spc="-2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multilingual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interactio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4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Innovation</a:t>
            </a:r>
            <a:r>
              <a:rPr dirty="0" spc="22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/</a:t>
            </a:r>
            <a:r>
              <a:rPr dirty="0" spc="10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Novel</a:t>
            </a:r>
            <a:r>
              <a:rPr dirty="0" spc="8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Contributions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8692" y="1226184"/>
            <a:ext cx="9961245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 spc="-20">
                <a:latin typeface="Cambria"/>
                <a:cs typeface="Cambria"/>
              </a:rPr>
              <a:t>AI-</a:t>
            </a:r>
            <a:r>
              <a:rPr dirty="0" sz="2400" spc="-30">
                <a:latin typeface="Cambria"/>
                <a:cs typeface="Cambria"/>
              </a:rPr>
              <a:t>powered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multilingual</a:t>
            </a:r>
            <a:r>
              <a:rPr dirty="0" sz="240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chatbot</a:t>
            </a:r>
            <a:r>
              <a:rPr dirty="0" sz="2400" spc="-45">
                <a:latin typeface="Cambria"/>
                <a:cs typeface="Cambria"/>
              </a:rPr>
              <a:t> </a:t>
            </a:r>
            <a:r>
              <a:rPr dirty="0" sz="2400" spc="-30">
                <a:latin typeface="Cambria"/>
                <a:cs typeface="Cambria"/>
              </a:rPr>
              <a:t>with</a:t>
            </a:r>
            <a:r>
              <a:rPr dirty="0" sz="2400" spc="-95">
                <a:latin typeface="Cambria"/>
                <a:cs typeface="Cambria"/>
              </a:rPr>
              <a:t> </a:t>
            </a:r>
            <a:r>
              <a:rPr dirty="0" sz="2400" spc="-30">
                <a:latin typeface="Cambria"/>
                <a:cs typeface="Cambria"/>
              </a:rPr>
              <a:t>real-</a:t>
            </a:r>
            <a:r>
              <a:rPr dirty="0" sz="2400" spc="-25">
                <a:latin typeface="Cambria"/>
                <a:cs typeface="Cambria"/>
              </a:rPr>
              <a:t>time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translation.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89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Resume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keyword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optimization</a:t>
            </a:r>
            <a:r>
              <a:rPr dirty="0" sz="2400" spc="-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tool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ATS</a:t>
            </a:r>
            <a:r>
              <a:rPr dirty="0" sz="2400" spc="-9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(Applicant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Tracking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Systems).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97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Cambria"/>
                <a:cs typeface="Cambria"/>
              </a:rPr>
              <a:t>Job</a:t>
            </a:r>
            <a:r>
              <a:rPr dirty="0" sz="2400" spc="-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recommendation</a:t>
            </a:r>
            <a:r>
              <a:rPr dirty="0" sz="2400" spc="1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engine customized</a:t>
            </a:r>
            <a:r>
              <a:rPr dirty="0" sz="2400" spc="-2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-3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regional</a:t>
            </a:r>
            <a:r>
              <a:rPr dirty="0" sz="2400" spc="-2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job</a:t>
            </a:r>
            <a:r>
              <a:rPr dirty="0" sz="2400" spc="2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markets.</a:t>
            </a:r>
            <a:endParaRPr sz="240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89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 spc="-20">
                <a:latin typeface="Cambria"/>
                <a:cs typeface="Cambria"/>
              </a:rPr>
              <a:t>Cross-</a:t>
            </a:r>
            <a:r>
              <a:rPr dirty="0" sz="2400" spc="-10">
                <a:latin typeface="Cambria"/>
                <a:cs typeface="Cambria"/>
              </a:rPr>
              <a:t>platform</a:t>
            </a:r>
            <a:r>
              <a:rPr dirty="0" sz="2400" spc="-10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support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-10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web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and</a:t>
            </a:r>
            <a:r>
              <a:rPr dirty="0" sz="2400" spc="-11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mobile.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09625" y="885189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8066405" algn="l"/>
              </a:tabLst>
            </a:pPr>
            <a:r>
              <a:rPr dirty="0">
                <a:latin typeface="Verdana"/>
                <a:cs typeface="Verdana"/>
              </a:rPr>
              <a:t>Literature</a:t>
            </a:r>
            <a:r>
              <a:rPr dirty="0" spc="-1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Review</a:t>
            </a:r>
            <a:r>
              <a:rPr dirty="0" spc="-1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for</a:t>
            </a:r>
            <a:r>
              <a:rPr dirty="0" spc="-1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AI-</a:t>
            </a:r>
            <a:r>
              <a:rPr dirty="0" spc="-4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Job</a:t>
            </a:r>
            <a:r>
              <a:rPr dirty="0" spc="-5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Searching</a:t>
            </a:r>
            <a:r>
              <a:rPr dirty="0">
                <a:latin typeface="Verdana"/>
                <a:cs typeface="Verdana"/>
              </a:rPr>
              <a:t>	</a:t>
            </a:r>
            <a:r>
              <a:rPr dirty="0" spc="-10">
                <a:latin typeface="Verdana"/>
                <a:cs typeface="Verdana"/>
              </a:rPr>
              <a:t>Assistant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65517" y="981709"/>
            <a:ext cx="9068435" cy="4603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240" indent="-380365">
              <a:lnSpc>
                <a:spcPct val="100000"/>
              </a:lnSpc>
              <a:spcBef>
                <a:spcPts val="100"/>
              </a:spcBef>
              <a:buSzPct val="97959"/>
              <a:buFont typeface="Arial MT"/>
              <a:buChar char="•"/>
              <a:tabLst>
                <a:tab pos="396240" algn="l"/>
              </a:tabLst>
            </a:pPr>
            <a:r>
              <a:rPr dirty="0" sz="2450" spc="45" b="1">
                <a:latin typeface="Cambria"/>
                <a:cs typeface="Cambria"/>
              </a:rPr>
              <a:t>Multilingual</a:t>
            </a:r>
            <a:r>
              <a:rPr dirty="0" sz="2450" spc="275" b="1">
                <a:latin typeface="Cambria"/>
                <a:cs typeface="Cambria"/>
              </a:rPr>
              <a:t> </a:t>
            </a:r>
            <a:r>
              <a:rPr dirty="0" sz="2450" spc="-25" b="1">
                <a:latin typeface="Cambria"/>
                <a:cs typeface="Cambria"/>
              </a:rPr>
              <a:t>NLP</a:t>
            </a:r>
            <a:endParaRPr sz="2450">
              <a:latin typeface="Cambria"/>
              <a:cs typeface="Cambria"/>
            </a:endParaRPr>
          </a:p>
          <a:p>
            <a:pPr marL="396240" marR="5080" indent="-384175">
              <a:lnSpc>
                <a:spcPct val="151100"/>
              </a:lnSpc>
              <a:spcBef>
                <a:spcPts val="960"/>
              </a:spcBef>
              <a:buSzPct val="120000"/>
              <a:buFont typeface="Arial MT"/>
              <a:buChar char="•"/>
              <a:tabLst>
                <a:tab pos="396240" algn="l"/>
              </a:tabLst>
            </a:pPr>
            <a:r>
              <a:rPr dirty="0" sz="2000">
                <a:latin typeface="Verdana"/>
                <a:cs typeface="Verdana"/>
              </a:rPr>
              <a:t>Models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like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mBERT,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XLM-</a:t>
            </a:r>
            <a:r>
              <a:rPr dirty="0" sz="2000">
                <a:latin typeface="Verdana"/>
                <a:cs typeface="Verdana"/>
              </a:rPr>
              <a:t>R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enable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cross-</a:t>
            </a:r>
            <a:r>
              <a:rPr dirty="0" sz="2000">
                <a:latin typeface="Verdana"/>
                <a:cs typeface="Verdana"/>
              </a:rPr>
              <a:t>language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translation</a:t>
            </a:r>
            <a:r>
              <a:rPr dirty="0" sz="2000" spc="-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&amp;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text </a:t>
            </a:r>
            <a:r>
              <a:rPr dirty="0" sz="2000" spc="-10">
                <a:latin typeface="Verdana"/>
                <a:cs typeface="Verdana"/>
              </a:rPr>
              <a:t>understanding.</a:t>
            </a:r>
            <a:endParaRPr sz="2000">
              <a:latin typeface="Verdana"/>
              <a:cs typeface="Verdana"/>
            </a:endParaRPr>
          </a:p>
          <a:p>
            <a:pPr marL="396240" indent="-380365">
              <a:lnSpc>
                <a:spcPct val="100000"/>
              </a:lnSpc>
              <a:spcBef>
                <a:spcPts val="1625"/>
              </a:spcBef>
              <a:buSzPct val="120000"/>
              <a:buFont typeface="Arial MT"/>
              <a:buChar char="•"/>
              <a:tabLst>
                <a:tab pos="396240" algn="l"/>
              </a:tabLst>
            </a:pPr>
            <a:r>
              <a:rPr dirty="0" sz="2000">
                <a:latin typeface="Verdana"/>
                <a:cs typeface="Verdana"/>
              </a:rPr>
              <a:t>Useful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real-</a:t>
            </a:r>
            <a:r>
              <a:rPr dirty="0" sz="2000">
                <a:latin typeface="Verdana"/>
                <a:cs typeface="Verdana"/>
              </a:rPr>
              <a:t>time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job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posting/resume</a:t>
            </a:r>
            <a:r>
              <a:rPr dirty="0" sz="2000" spc="-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translation</a:t>
            </a:r>
            <a:endParaRPr sz="2000">
              <a:latin typeface="Verdana"/>
              <a:cs typeface="Verdana"/>
            </a:endParaRPr>
          </a:p>
          <a:p>
            <a:pPr marL="396240" indent="-380365">
              <a:lnSpc>
                <a:spcPct val="100000"/>
              </a:lnSpc>
              <a:spcBef>
                <a:spcPts val="1275"/>
              </a:spcBef>
              <a:buSzPct val="97959"/>
              <a:buFont typeface="Arial MT"/>
              <a:buChar char="•"/>
              <a:tabLst>
                <a:tab pos="396240" algn="l"/>
              </a:tabLst>
            </a:pPr>
            <a:r>
              <a:rPr dirty="0" sz="2450" b="1">
                <a:latin typeface="Cambria"/>
                <a:cs typeface="Cambria"/>
              </a:rPr>
              <a:t>AI-</a:t>
            </a:r>
            <a:r>
              <a:rPr dirty="0" sz="2450" spc="50" b="1">
                <a:latin typeface="Cambria"/>
                <a:cs typeface="Cambria"/>
              </a:rPr>
              <a:t>based</a:t>
            </a:r>
            <a:r>
              <a:rPr dirty="0" sz="2450" spc="575" b="1">
                <a:latin typeface="Cambria"/>
                <a:cs typeface="Cambria"/>
              </a:rPr>
              <a:t> </a:t>
            </a:r>
            <a:r>
              <a:rPr dirty="0" sz="2450" b="1">
                <a:latin typeface="Cambria"/>
                <a:cs typeface="Cambria"/>
              </a:rPr>
              <a:t>Job</a:t>
            </a:r>
            <a:r>
              <a:rPr dirty="0" sz="2450" spc="515" b="1">
                <a:latin typeface="Cambria"/>
                <a:cs typeface="Cambria"/>
              </a:rPr>
              <a:t> </a:t>
            </a:r>
            <a:r>
              <a:rPr dirty="0" sz="2450" spc="40" b="1">
                <a:latin typeface="Cambria"/>
                <a:cs typeface="Cambria"/>
              </a:rPr>
              <a:t>Recommendation</a:t>
            </a:r>
            <a:endParaRPr sz="2450">
              <a:latin typeface="Cambria"/>
              <a:cs typeface="Cambria"/>
            </a:endParaRPr>
          </a:p>
          <a:p>
            <a:pPr marL="396240" indent="-380365">
              <a:lnSpc>
                <a:spcPct val="100000"/>
              </a:lnSpc>
              <a:spcBef>
                <a:spcPts val="1789"/>
              </a:spcBef>
              <a:buSzPct val="120000"/>
              <a:buFont typeface="Arial MT"/>
              <a:buChar char="•"/>
              <a:tabLst>
                <a:tab pos="396240" algn="l"/>
              </a:tabLst>
            </a:pPr>
            <a:r>
              <a:rPr dirty="0" sz="2000">
                <a:latin typeface="Verdana"/>
                <a:cs typeface="Verdana"/>
              </a:rPr>
              <a:t>Modern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systems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use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TF–IDF,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embeddings,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hybrid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models.</a:t>
            </a:r>
            <a:endParaRPr sz="2000">
              <a:latin typeface="Verdana"/>
              <a:cs typeface="Verdana"/>
            </a:endParaRPr>
          </a:p>
          <a:p>
            <a:pPr marL="396240" indent="-380365">
              <a:lnSpc>
                <a:spcPct val="100000"/>
              </a:lnSpc>
              <a:spcBef>
                <a:spcPts val="1500"/>
              </a:spcBef>
              <a:buSzPct val="120000"/>
              <a:buFont typeface="Arial MT"/>
              <a:buChar char="•"/>
              <a:tabLst>
                <a:tab pos="396240" algn="l"/>
              </a:tabLst>
            </a:pPr>
            <a:r>
              <a:rPr dirty="0" sz="2000">
                <a:latin typeface="Verdana"/>
                <a:cs typeface="Verdana"/>
              </a:rPr>
              <a:t>Improves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resume–job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matching</a:t>
            </a:r>
            <a:r>
              <a:rPr dirty="0" sz="2000" spc="-9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beyond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keywords</a:t>
            </a:r>
            <a:endParaRPr sz="2000">
              <a:latin typeface="Verdana"/>
              <a:cs typeface="Verdana"/>
            </a:endParaRPr>
          </a:p>
          <a:p>
            <a:pPr marL="396240" indent="-380365">
              <a:lnSpc>
                <a:spcPct val="100000"/>
              </a:lnSpc>
              <a:spcBef>
                <a:spcPts val="1355"/>
              </a:spcBef>
              <a:buSzPct val="97959"/>
              <a:buFont typeface="Arial MT"/>
              <a:buChar char="•"/>
              <a:tabLst>
                <a:tab pos="396240" algn="l"/>
              </a:tabLst>
            </a:pPr>
            <a:r>
              <a:rPr dirty="0" sz="2450" spc="55" b="1">
                <a:latin typeface="Cambria"/>
                <a:cs typeface="Cambria"/>
              </a:rPr>
              <a:t>Resume</a:t>
            </a:r>
            <a:r>
              <a:rPr dirty="0" sz="2450" spc="80" b="1">
                <a:latin typeface="Cambria"/>
                <a:cs typeface="Cambria"/>
              </a:rPr>
              <a:t> </a:t>
            </a:r>
            <a:r>
              <a:rPr dirty="0" sz="2450" spc="45" b="1">
                <a:latin typeface="Cambria"/>
                <a:cs typeface="Cambria"/>
              </a:rPr>
              <a:t>Parsing</a:t>
            </a:r>
            <a:r>
              <a:rPr dirty="0" sz="2450" spc="125" b="1">
                <a:latin typeface="Cambria"/>
                <a:cs typeface="Cambria"/>
              </a:rPr>
              <a:t> </a:t>
            </a:r>
            <a:r>
              <a:rPr dirty="0" sz="2450" spc="50" b="1">
                <a:latin typeface="Cambria"/>
                <a:cs typeface="Cambria"/>
              </a:rPr>
              <a:t>&amp;</a:t>
            </a:r>
            <a:r>
              <a:rPr dirty="0" sz="2450" spc="75" b="1">
                <a:latin typeface="Cambria"/>
                <a:cs typeface="Cambria"/>
              </a:rPr>
              <a:t> </a:t>
            </a:r>
            <a:r>
              <a:rPr dirty="0" sz="2450" spc="-10" b="1">
                <a:latin typeface="Cambria"/>
                <a:cs typeface="Cambria"/>
              </a:rPr>
              <a:t>Optimization</a:t>
            </a:r>
            <a:endParaRPr sz="2450">
              <a:latin typeface="Cambria"/>
              <a:cs typeface="Cambria"/>
            </a:endParaRPr>
          </a:p>
          <a:p>
            <a:pPr marL="396240" indent="-380365">
              <a:lnSpc>
                <a:spcPct val="100000"/>
              </a:lnSpc>
              <a:spcBef>
                <a:spcPts val="1785"/>
              </a:spcBef>
              <a:buSzPct val="120000"/>
              <a:buFont typeface="Arial MT"/>
              <a:buChar char="•"/>
              <a:tabLst>
                <a:tab pos="396240" algn="l"/>
              </a:tabLst>
            </a:pPr>
            <a:r>
              <a:rPr dirty="0" sz="2000">
                <a:latin typeface="Verdana"/>
                <a:cs typeface="Verdana"/>
              </a:rPr>
              <a:t>Uses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NLP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&amp;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NER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extract</a:t>
            </a:r>
            <a:r>
              <a:rPr dirty="0" sz="2000" spc="-3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skills,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education,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experience.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8692" y="-49148"/>
            <a:ext cx="7735570" cy="2035175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14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Improves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ATS-</a:t>
            </a:r>
            <a:r>
              <a:rPr dirty="0" sz="2000">
                <a:latin typeface="Verdana"/>
                <a:cs typeface="Verdana"/>
              </a:rPr>
              <a:t>friendly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shortlisting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chances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1270"/>
              </a:spcBef>
              <a:buSzPct val="97959"/>
              <a:buFont typeface="Arial MT"/>
              <a:buChar char="•"/>
              <a:tabLst>
                <a:tab pos="393065" algn="l"/>
              </a:tabLst>
            </a:pPr>
            <a:r>
              <a:rPr dirty="0" sz="2450" b="1">
                <a:latin typeface="Cambria"/>
                <a:cs typeface="Cambria"/>
              </a:rPr>
              <a:t>AI</a:t>
            </a:r>
            <a:r>
              <a:rPr dirty="0" sz="2450" spc="110" b="1">
                <a:latin typeface="Cambria"/>
                <a:cs typeface="Cambria"/>
              </a:rPr>
              <a:t> </a:t>
            </a:r>
            <a:r>
              <a:rPr dirty="0" sz="2450" spc="50" b="1">
                <a:latin typeface="Cambria"/>
                <a:cs typeface="Cambria"/>
              </a:rPr>
              <a:t>Recruitment</a:t>
            </a:r>
            <a:r>
              <a:rPr dirty="0" sz="2450" spc="155" b="1">
                <a:latin typeface="Cambria"/>
                <a:cs typeface="Cambria"/>
              </a:rPr>
              <a:t> </a:t>
            </a:r>
            <a:r>
              <a:rPr dirty="0" sz="2450" spc="-10" b="1">
                <a:latin typeface="Cambria"/>
                <a:cs typeface="Cambria"/>
              </a:rPr>
              <a:t>Chatbots</a:t>
            </a:r>
            <a:endParaRPr sz="2450">
              <a:latin typeface="Cambria"/>
              <a:cs typeface="Cambria"/>
            </a:endParaRPr>
          </a:p>
          <a:p>
            <a:pPr marL="393065" indent="-380365">
              <a:lnSpc>
                <a:spcPct val="100000"/>
              </a:lnSpc>
              <a:spcBef>
                <a:spcPts val="1814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Provide</a:t>
            </a:r>
            <a:r>
              <a:rPr dirty="0" sz="2000" spc="-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FAQs,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screening,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and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job</a:t>
            </a:r>
            <a:r>
              <a:rPr dirty="0" sz="2000" spc="-9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guidance.</a:t>
            </a:r>
            <a:endParaRPr sz="20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1480"/>
              </a:spcBef>
              <a:buSzPct val="120000"/>
              <a:buFont typeface="Arial MT"/>
              <a:buChar char="•"/>
              <a:tabLst>
                <a:tab pos="393065" algn="l"/>
              </a:tabLst>
            </a:pPr>
            <a:r>
              <a:rPr dirty="0" sz="2000">
                <a:latin typeface="Verdana"/>
                <a:cs typeface="Verdana"/>
              </a:rPr>
              <a:t>Enhances</a:t>
            </a:r>
            <a:r>
              <a:rPr dirty="0" sz="2000" spc="-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candidate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experience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with</a:t>
            </a:r>
            <a:r>
              <a:rPr dirty="0" sz="2000" spc="-1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multilingual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support.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37"/>
            <a:ext cx="10668000" cy="44450"/>
          </a:xfrm>
          <a:custGeom>
            <a:avLst/>
            <a:gdLst/>
            <a:ahLst/>
            <a:cxnLst/>
            <a:rect l="l" t="t" r="r" b="b"/>
            <a:pathLst>
              <a:path w="10668000" h="44450">
                <a:moveTo>
                  <a:pt x="10668000" y="0"/>
                </a:moveTo>
                <a:lnTo>
                  <a:pt x="0" y="0"/>
                </a:lnTo>
                <a:lnTo>
                  <a:pt x="0" y="32639"/>
                </a:lnTo>
                <a:lnTo>
                  <a:pt x="0" y="34277"/>
                </a:lnTo>
                <a:lnTo>
                  <a:pt x="0" y="44056"/>
                </a:lnTo>
                <a:lnTo>
                  <a:pt x="10668000" y="44056"/>
                </a:lnTo>
                <a:lnTo>
                  <a:pt x="10668000" y="34277"/>
                </a:lnTo>
                <a:lnTo>
                  <a:pt x="10668000" y="32639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8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Progress</a:t>
            </a:r>
            <a:r>
              <a:rPr dirty="0" spc="13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report</a:t>
            </a:r>
            <a:r>
              <a:rPr dirty="0" spc="12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(Fully</a:t>
            </a:r>
            <a:r>
              <a:rPr dirty="0" spc="-4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Functional)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16267" y="1061465"/>
            <a:ext cx="8744585" cy="176022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7820" indent="-325120">
              <a:lnSpc>
                <a:spcPct val="100000"/>
              </a:lnSpc>
              <a:spcBef>
                <a:spcPts val="620"/>
              </a:spcBef>
              <a:buSzPct val="106250"/>
              <a:buFont typeface="Verdana"/>
              <a:buAutoNum type="alphaLcParenR"/>
              <a:tabLst>
                <a:tab pos="337820" algn="l"/>
              </a:tabLst>
            </a:pPr>
            <a:r>
              <a:rPr dirty="0" sz="1600" b="1">
                <a:latin typeface="Cambria"/>
                <a:cs typeface="Cambria"/>
              </a:rPr>
              <a:t>Requirement</a:t>
            </a:r>
            <a:r>
              <a:rPr dirty="0" sz="1600" spc="-45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Analysis</a:t>
            </a:r>
            <a:r>
              <a:rPr dirty="0" sz="1600" spc="-45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&amp;</a:t>
            </a:r>
            <a:r>
              <a:rPr dirty="0" sz="1600" spc="-25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Design</a:t>
            </a:r>
            <a:endParaRPr sz="1600">
              <a:latin typeface="Cambria"/>
              <a:cs typeface="Cambria"/>
            </a:endParaRPr>
          </a:p>
          <a:p>
            <a:pPr lvl="1" marL="745490" indent="-380365">
              <a:lnSpc>
                <a:spcPct val="100000"/>
              </a:lnSpc>
              <a:spcBef>
                <a:spcPts val="1615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Finalized</a:t>
            </a:r>
            <a:r>
              <a:rPr dirty="0" sz="1700" spc="-10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system</a:t>
            </a:r>
            <a:r>
              <a:rPr dirty="0" sz="1700" spc="-11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requirements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114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identified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key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functional</a:t>
            </a:r>
            <a:r>
              <a:rPr dirty="0" sz="1700" spc="-12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modules.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61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Designed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workflow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9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conversation</a:t>
            </a:r>
            <a:r>
              <a:rPr dirty="0" sz="1700" spc="-9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mapping.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61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Selected</a:t>
            </a:r>
            <a:r>
              <a:rPr dirty="0" sz="1700" spc="-10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technologies: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Python,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NLTK/Spacy,</a:t>
            </a:r>
            <a:r>
              <a:rPr dirty="0" sz="1700" spc="-9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Flask,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10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MongoDB/MySQL.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6267" y="3507739"/>
            <a:ext cx="8681720" cy="221996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620"/>
              </a:spcBef>
              <a:buSzPct val="106250"/>
              <a:buFont typeface="Verdana"/>
              <a:buAutoNum type="alphaLcParenR" startAt="2"/>
              <a:tabLst>
                <a:tab pos="347980" algn="l"/>
              </a:tabLst>
            </a:pPr>
            <a:r>
              <a:rPr dirty="0" sz="1600" b="1">
                <a:latin typeface="Cambria"/>
                <a:cs typeface="Cambria"/>
              </a:rPr>
              <a:t>Development</a:t>
            </a:r>
            <a:r>
              <a:rPr dirty="0" sz="1600" spc="-70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Progress</a:t>
            </a:r>
            <a:endParaRPr sz="1600">
              <a:latin typeface="Cambria"/>
              <a:cs typeface="Cambria"/>
            </a:endParaRPr>
          </a:p>
          <a:p>
            <a:pPr lvl="1" marL="745490" indent="-380365">
              <a:lnSpc>
                <a:spcPct val="100000"/>
              </a:lnSpc>
              <a:spcBef>
                <a:spcPts val="161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Implemented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chatbot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framework</a:t>
            </a:r>
            <a:r>
              <a:rPr dirty="0" sz="1700" spc="-11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with</a:t>
            </a:r>
            <a:r>
              <a:rPr dirty="0" sz="1700" spc="-10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intent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recognition.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585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Integrated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basic</a:t>
            </a:r>
            <a:r>
              <a:rPr dirty="0" sz="1700" spc="-7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NLP</a:t>
            </a:r>
            <a:r>
              <a:rPr dirty="0" sz="1700" spc="-7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model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for</a:t>
            </a:r>
            <a:r>
              <a:rPr dirty="0" sz="1700" spc="-7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query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understanding.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614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Developed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Resume</a:t>
            </a:r>
            <a:r>
              <a:rPr dirty="0" sz="1700" spc="-1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Assistance</a:t>
            </a:r>
            <a:r>
              <a:rPr dirty="0" sz="1700" spc="-7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Module</a:t>
            </a:r>
            <a:r>
              <a:rPr dirty="0" sz="1700" spc="-7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(</a:t>
            </a:r>
            <a:r>
              <a:rPr dirty="0" sz="1700" spc="-6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feedback</a:t>
            </a:r>
            <a:r>
              <a:rPr dirty="0" sz="1700" spc="-10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on</a:t>
            </a:r>
            <a:r>
              <a:rPr dirty="0" sz="1700" spc="-9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format</a:t>
            </a:r>
            <a:r>
              <a:rPr dirty="0" sz="1700" spc="-4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&amp;</a:t>
            </a:r>
            <a:r>
              <a:rPr dirty="0" sz="1700" spc="-10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skills).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61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Built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Job</a:t>
            </a:r>
            <a:r>
              <a:rPr dirty="0" sz="1700" spc="-4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Recommendation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prototype</a:t>
            </a:r>
            <a:r>
              <a:rPr dirty="0" sz="1700" spc="-11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using</a:t>
            </a:r>
            <a:r>
              <a:rPr dirty="0" sz="1700" spc="-10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dataset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+</a:t>
            </a:r>
            <a:r>
              <a:rPr dirty="0" sz="1700" spc="-114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keyword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matching.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26"/>
            <a:ext cx="10668000" cy="34290"/>
          </a:xfrm>
          <a:custGeom>
            <a:avLst/>
            <a:gdLst/>
            <a:ahLst/>
            <a:cxnLst/>
            <a:rect l="l" t="t" r="r" b="b"/>
            <a:pathLst>
              <a:path w="10668000" h="34290">
                <a:moveTo>
                  <a:pt x="10668000" y="0"/>
                </a:moveTo>
                <a:lnTo>
                  <a:pt x="0" y="0"/>
                </a:lnTo>
                <a:lnTo>
                  <a:pt x="0" y="34288"/>
                </a:lnTo>
                <a:lnTo>
                  <a:pt x="10668000" y="34288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8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Progress</a:t>
            </a:r>
            <a:r>
              <a:rPr dirty="0" spc="13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report</a:t>
            </a:r>
            <a:r>
              <a:rPr dirty="0" spc="12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(Fully</a:t>
            </a:r>
            <a:r>
              <a:rPr dirty="0" spc="-4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Functional)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16267" y="845819"/>
            <a:ext cx="10380980" cy="252222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745490" indent="-380365">
              <a:lnSpc>
                <a:spcPct val="100000"/>
              </a:lnSpc>
              <a:spcBef>
                <a:spcPts val="112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Database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created</a:t>
            </a:r>
            <a:r>
              <a:rPr dirty="0" sz="1700" spc="-9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for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user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admin</a:t>
            </a:r>
            <a:r>
              <a:rPr dirty="0" sz="1700" spc="-114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interaction</a:t>
            </a:r>
            <a:r>
              <a:rPr dirty="0" sz="1700" spc="-2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storage.</a:t>
            </a:r>
            <a:endParaRPr sz="1700">
              <a:latin typeface="Verdana"/>
              <a:cs typeface="Verdana"/>
            </a:endParaRPr>
          </a:p>
          <a:p>
            <a:pPr marL="233045" indent="-220345">
              <a:lnSpc>
                <a:spcPct val="100000"/>
              </a:lnSpc>
              <a:spcBef>
                <a:spcPts val="960"/>
              </a:spcBef>
              <a:buAutoNum type="alphaLcParenR" startAt="3"/>
              <a:tabLst>
                <a:tab pos="233045" algn="l"/>
              </a:tabLst>
            </a:pPr>
            <a:r>
              <a:rPr dirty="0" sz="1600" spc="-10" b="1">
                <a:latin typeface="Cambria"/>
                <a:cs typeface="Cambria"/>
              </a:rPr>
              <a:t>Testing</a:t>
            </a:r>
            <a:endParaRPr sz="1600">
              <a:latin typeface="Cambria"/>
              <a:cs typeface="Cambria"/>
            </a:endParaRPr>
          </a:p>
          <a:p>
            <a:pPr lvl="1" marL="745490" indent="-380365">
              <a:lnSpc>
                <a:spcPct val="100000"/>
              </a:lnSpc>
              <a:spcBef>
                <a:spcPts val="605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Tested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User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Interface</a:t>
            </a:r>
            <a:r>
              <a:rPr dirty="0" sz="1700" spc="-3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admin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Dashboard</a:t>
            </a:r>
            <a:r>
              <a:rPr dirty="0" sz="1700" spc="-6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for</a:t>
            </a:r>
            <a:r>
              <a:rPr dirty="0" sz="1700" spc="-12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small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queries</a:t>
            </a:r>
            <a:r>
              <a:rPr dirty="0" sz="1700" spc="-12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performed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debugging.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59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Verified</a:t>
            </a:r>
            <a:r>
              <a:rPr dirty="0" sz="1700" spc="-9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functionality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of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resume</a:t>
            </a:r>
            <a:r>
              <a:rPr dirty="0" sz="1700" spc="-4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guidance</a:t>
            </a:r>
            <a:r>
              <a:rPr dirty="0" sz="1700" spc="-3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10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job</a:t>
            </a:r>
            <a:r>
              <a:rPr dirty="0" sz="1700" spc="-11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recommendations.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61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Checked</a:t>
            </a:r>
            <a:r>
              <a:rPr dirty="0" sz="1700" spc="-9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out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the</a:t>
            </a:r>
            <a:r>
              <a:rPr dirty="0" sz="1700" spc="-6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Workshop,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 spc="-20">
                <a:latin typeface="Verdana"/>
                <a:cs typeface="Verdana"/>
              </a:rPr>
              <a:t>competition/Quiz,</a:t>
            </a:r>
            <a:r>
              <a:rPr dirty="0" sz="1700" spc="-10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Interview,</a:t>
            </a:r>
            <a:r>
              <a:rPr dirty="0" sz="1700" spc="-7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Chatbot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for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User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Interface</a:t>
            </a:r>
            <a:endParaRPr sz="1700">
              <a:latin typeface="Verdana"/>
              <a:cs typeface="Verdana"/>
            </a:endParaRPr>
          </a:p>
          <a:p>
            <a:pPr lvl="1" marL="745490" indent="-380365">
              <a:lnSpc>
                <a:spcPct val="100000"/>
              </a:lnSpc>
              <a:spcBef>
                <a:spcPts val="1610"/>
              </a:spcBef>
              <a:buSzPct val="141176"/>
              <a:buFont typeface="Arial MT"/>
              <a:buChar char="•"/>
              <a:tabLst>
                <a:tab pos="745490" algn="l"/>
              </a:tabLst>
            </a:pPr>
            <a:r>
              <a:rPr dirty="0" sz="1700">
                <a:latin typeface="Verdana"/>
                <a:cs typeface="Verdana"/>
              </a:rPr>
              <a:t>Checked</a:t>
            </a:r>
            <a:r>
              <a:rPr dirty="0" sz="1700" spc="-10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out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Live</a:t>
            </a:r>
            <a:r>
              <a:rPr dirty="0" sz="1700" spc="-7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Applicant,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User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performance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in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Admin</a:t>
            </a:r>
            <a:r>
              <a:rPr dirty="0" sz="1700" spc="-8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Interface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37"/>
            <a:ext cx="10673080" cy="38735"/>
          </a:xfrm>
          <a:custGeom>
            <a:avLst/>
            <a:gdLst/>
            <a:ahLst/>
            <a:cxnLst/>
            <a:rect l="l" t="t" r="r" b="b"/>
            <a:pathLst>
              <a:path w="10673080" h="38734">
                <a:moveTo>
                  <a:pt x="10672470" y="27305"/>
                </a:moveTo>
                <a:lnTo>
                  <a:pt x="10668000" y="27305"/>
                </a:lnTo>
                <a:lnTo>
                  <a:pt x="10668000" y="0"/>
                </a:lnTo>
                <a:lnTo>
                  <a:pt x="0" y="0"/>
                </a:lnTo>
                <a:lnTo>
                  <a:pt x="0" y="34277"/>
                </a:lnTo>
                <a:lnTo>
                  <a:pt x="4470" y="34277"/>
                </a:lnTo>
                <a:lnTo>
                  <a:pt x="4470" y="38722"/>
                </a:lnTo>
                <a:lnTo>
                  <a:pt x="10672470" y="38722"/>
                </a:lnTo>
                <a:lnTo>
                  <a:pt x="10672470" y="27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3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System</a:t>
            </a:r>
            <a:r>
              <a:rPr dirty="0" spc="-5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Architecture</a:t>
            </a:r>
            <a:r>
              <a:rPr dirty="0" spc="16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for</a:t>
            </a:r>
            <a:r>
              <a:rPr dirty="0" spc="13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the</a:t>
            </a:r>
            <a:r>
              <a:rPr dirty="0" spc="18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Ai</a:t>
            </a:r>
            <a:r>
              <a:rPr dirty="0" spc="10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job</a:t>
            </a:r>
            <a:r>
              <a:rPr dirty="0" spc="16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Searching</a:t>
            </a:r>
            <a:r>
              <a:rPr dirty="0" spc="-35">
                <a:latin typeface="Verdana"/>
                <a:cs typeface="Verdana"/>
              </a:rPr>
              <a:t> </a:t>
            </a:r>
            <a:r>
              <a:rPr dirty="0" spc="-25">
                <a:latin typeface="Verdana"/>
                <a:cs typeface="Verdana"/>
              </a:rPr>
              <a:t>App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9309" y="1985645"/>
            <a:ext cx="2069464" cy="310413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09625" y="885189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9225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latin typeface="Verdana"/>
                <a:cs typeface="Verdana"/>
              </a:rPr>
              <a:t>AI-</a:t>
            </a:r>
            <a:r>
              <a:rPr dirty="0">
                <a:latin typeface="Verdana"/>
                <a:cs typeface="Verdana"/>
              </a:rPr>
              <a:t>Job</a:t>
            </a:r>
            <a:r>
              <a:rPr dirty="0" spc="-15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Searching</a:t>
            </a:r>
            <a:r>
              <a:rPr dirty="0" spc="-2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App</a:t>
            </a:r>
            <a:r>
              <a:rPr dirty="0" spc="14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:</a:t>
            </a:r>
            <a:r>
              <a:rPr dirty="0" spc="204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Flow</a:t>
            </a:r>
            <a:r>
              <a:rPr dirty="0" spc="190">
                <a:latin typeface="Verdana"/>
                <a:cs typeface="Verdana"/>
              </a:rPr>
              <a:t> </a:t>
            </a:r>
            <a:r>
              <a:rPr dirty="0" spc="-20">
                <a:latin typeface="Verdana"/>
                <a:cs typeface="Verdana"/>
              </a:rPr>
              <a:t>chat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2844" y="1172210"/>
            <a:ext cx="23872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4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Project</a:t>
            </a:r>
            <a:r>
              <a:rPr dirty="0" spc="17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Modules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6267" y="984836"/>
            <a:ext cx="5667375" cy="3042920"/>
          </a:xfrm>
          <a:prstGeom prst="rect">
            <a:avLst/>
          </a:prstGeom>
        </p:spPr>
        <p:txBody>
          <a:bodyPr wrap="square" lIns="0" tIns="196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150" b="1">
                <a:latin typeface="Verdana"/>
                <a:cs typeface="Verdana"/>
              </a:rPr>
              <a:t>1.</a:t>
            </a:r>
            <a:r>
              <a:rPr dirty="0" sz="2150" spc="120" b="1">
                <a:latin typeface="Verdana"/>
                <a:cs typeface="Verdana"/>
              </a:rPr>
              <a:t> </a:t>
            </a:r>
            <a:r>
              <a:rPr dirty="0" sz="2150" b="1">
                <a:latin typeface="Verdana"/>
                <a:cs typeface="Verdana"/>
              </a:rPr>
              <a:t>User</a:t>
            </a:r>
            <a:r>
              <a:rPr dirty="0" sz="2150" spc="85" b="1">
                <a:latin typeface="Verdana"/>
                <a:cs typeface="Verdana"/>
              </a:rPr>
              <a:t> </a:t>
            </a:r>
            <a:r>
              <a:rPr dirty="0" sz="2150" b="1">
                <a:latin typeface="Verdana"/>
                <a:cs typeface="Verdana"/>
              </a:rPr>
              <a:t>Interface</a:t>
            </a:r>
            <a:r>
              <a:rPr dirty="0" sz="2150" spc="90" b="1">
                <a:latin typeface="Verdana"/>
                <a:cs typeface="Verdana"/>
              </a:rPr>
              <a:t> </a:t>
            </a:r>
            <a:r>
              <a:rPr dirty="0" sz="2150" b="1">
                <a:latin typeface="Verdana"/>
                <a:cs typeface="Verdana"/>
              </a:rPr>
              <a:t>Module</a:t>
            </a:r>
            <a:r>
              <a:rPr dirty="0" sz="2150" spc="105" b="1">
                <a:latin typeface="Verdana"/>
                <a:cs typeface="Verdana"/>
              </a:rPr>
              <a:t> </a:t>
            </a:r>
            <a:r>
              <a:rPr dirty="0" sz="2150" spc="-10" b="1">
                <a:latin typeface="Verdana"/>
                <a:cs typeface="Verdana"/>
              </a:rPr>
              <a:t>(Frontend)</a:t>
            </a:r>
            <a:endParaRPr sz="2150">
              <a:latin typeface="Verdana"/>
              <a:cs typeface="Verdana"/>
            </a:endParaRPr>
          </a:p>
          <a:p>
            <a:pPr marL="365125">
              <a:lnSpc>
                <a:spcPct val="100000"/>
              </a:lnSpc>
              <a:spcBef>
                <a:spcPts val="1245"/>
              </a:spcBef>
            </a:pPr>
            <a:r>
              <a:rPr dirty="0" sz="1850">
                <a:latin typeface="Cambria"/>
                <a:cs typeface="Cambria"/>
              </a:rPr>
              <a:t>Platform:</a:t>
            </a:r>
            <a:r>
              <a:rPr dirty="0" sz="1850" spc="11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Web</a:t>
            </a:r>
            <a:r>
              <a:rPr dirty="0" sz="1850" spc="26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/</a:t>
            </a:r>
            <a:r>
              <a:rPr dirty="0" sz="1850" spc="114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Mobile</a:t>
            </a:r>
            <a:r>
              <a:rPr dirty="0" sz="1850" spc="225">
                <a:latin typeface="Cambria"/>
                <a:cs typeface="Cambria"/>
              </a:rPr>
              <a:t> </a:t>
            </a:r>
            <a:r>
              <a:rPr dirty="0" sz="1850" spc="-20">
                <a:latin typeface="Cambria"/>
                <a:cs typeface="Cambria"/>
              </a:rPr>
              <a:t>app.</a:t>
            </a:r>
            <a:endParaRPr sz="1850">
              <a:latin typeface="Cambria"/>
              <a:cs typeface="Cambria"/>
            </a:endParaRPr>
          </a:p>
          <a:p>
            <a:pPr marL="365125" marR="571500">
              <a:lnSpc>
                <a:spcPts val="3250"/>
              </a:lnSpc>
              <a:spcBef>
                <a:spcPts val="280"/>
              </a:spcBef>
            </a:pPr>
            <a:r>
              <a:rPr dirty="0" sz="1850">
                <a:latin typeface="Cambria"/>
                <a:cs typeface="Cambria"/>
              </a:rPr>
              <a:t>Allows</a:t>
            </a:r>
            <a:r>
              <a:rPr dirty="0" sz="1850" spc="2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job</a:t>
            </a:r>
            <a:r>
              <a:rPr dirty="0" sz="1850" spc="45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seekers</a:t>
            </a:r>
            <a:r>
              <a:rPr dirty="0" sz="1850" spc="25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to</a:t>
            </a:r>
            <a:r>
              <a:rPr dirty="0" sz="1850" spc="9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interact</a:t>
            </a:r>
            <a:r>
              <a:rPr dirty="0" sz="1850" spc="75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with</a:t>
            </a:r>
            <a:r>
              <a:rPr dirty="0" sz="1850" spc="6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the</a:t>
            </a:r>
            <a:r>
              <a:rPr dirty="0" sz="1850" spc="95">
                <a:latin typeface="Cambria"/>
                <a:cs typeface="Cambria"/>
              </a:rPr>
              <a:t> </a:t>
            </a:r>
            <a:r>
              <a:rPr dirty="0" sz="1850" spc="-10">
                <a:latin typeface="Cambria"/>
                <a:cs typeface="Cambria"/>
              </a:rPr>
              <a:t>system. Functions:</a:t>
            </a:r>
            <a:endParaRPr sz="1850">
              <a:latin typeface="Cambria"/>
              <a:cs typeface="Cambria"/>
            </a:endParaRPr>
          </a:p>
          <a:p>
            <a:pPr marL="365125" marR="2769870">
              <a:lnSpc>
                <a:spcPts val="3250"/>
              </a:lnSpc>
              <a:spcBef>
                <a:spcPts val="5"/>
              </a:spcBef>
            </a:pPr>
            <a:r>
              <a:rPr dirty="0" sz="1850">
                <a:latin typeface="Cambria"/>
                <a:cs typeface="Cambria"/>
              </a:rPr>
              <a:t>Enter</a:t>
            </a:r>
            <a:r>
              <a:rPr dirty="0" sz="1850" spc="8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job</a:t>
            </a:r>
            <a:r>
              <a:rPr dirty="0" sz="1850" spc="8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search</a:t>
            </a:r>
            <a:r>
              <a:rPr dirty="0" sz="1850" spc="105">
                <a:latin typeface="Cambria"/>
                <a:cs typeface="Cambria"/>
              </a:rPr>
              <a:t> </a:t>
            </a:r>
            <a:r>
              <a:rPr dirty="0" sz="1850" spc="-10">
                <a:latin typeface="Cambria"/>
                <a:cs typeface="Cambria"/>
              </a:rPr>
              <a:t>queries. </a:t>
            </a:r>
            <a:r>
              <a:rPr dirty="0" sz="1850">
                <a:latin typeface="Cambria"/>
                <a:cs typeface="Cambria"/>
              </a:rPr>
              <a:t>Upload</a:t>
            </a:r>
            <a:r>
              <a:rPr dirty="0" sz="1850" spc="229">
                <a:latin typeface="Cambria"/>
                <a:cs typeface="Cambria"/>
              </a:rPr>
              <a:t> </a:t>
            </a:r>
            <a:r>
              <a:rPr dirty="0" sz="1850" spc="-10">
                <a:latin typeface="Cambria"/>
                <a:cs typeface="Cambria"/>
              </a:rPr>
              <a:t>resumes.</a:t>
            </a:r>
            <a:endParaRPr sz="1850">
              <a:latin typeface="Cambria"/>
              <a:cs typeface="Cambria"/>
            </a:endParaRPr>
          </a:p>
          <a:p>
            <a:pPr marL="365125">
              <a:lnSpc>
                <a:spcPct val="100000"/>
              </a:lnSpc>
              <a:spcBef>
                <a:spcPts val="755"/>
              </a:spcBef>
            </a:pPr>
            <a:r>
              <a:rPr dirty="0" sz="1850">
                <a:latin typeface="Cambria"/>
                <a:cs typeface="Cambria"/>
              </a:rPr>
              <a:t>we</a:t>
            </a:r>
            <a:r>
              <a:rPr dirty="0" sz="1850" spc="210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recommended</a:t>
            </a:r>
            <a:r>
              <a:rPr dirty="0" sz="1850" spc="195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job</a:t>
            </a:r>
            <a:r>
              <a:rPr dirty="0" sz="1850" spc="160">
                <a:latin typeface="Cambria"/>
                <a:cs typeface="Cambria"/>
              </a:rPr>
              <a:t> </a:t>
            </a:r>
            <a:r>
              <a:rPr dirty="0" sz="1850" spc="-10">
                <a:latin typeface="Cambria"/>
                <a:cs typeface="Cambria"/>
              </a:rPr>
              <a:t>results</a:t>
            </a:r>
            <a:endParaRPr sz="1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8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Project</a:t>
            </a:r>
            <a:r>
              <a:rPr dirty="0" spc="17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Modules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2.</a:t>
            </a:r>
            <a:r>
              <a:rPr dirty="0" sz="2400" spc="-110"/>
              <a:t> </a:t>
            </a:r>
            <a:r>
              <a:rPr dirty="0" sz="2400"/>
              <a:t>Multilingual</a:t>
            </a:r>
            <a:r>
              <a:rPr dirty="0" sz="2400" spc="-80"/>
              <a:t> </a:t>
            </a:r>
            <a:r>
              <a:rPr dirty="0" sz="2400"/>
              <a:t>Translator</a:t>
            </a:r>
            <a:r>
              <a:rPr dirty="0" sz="2400" spc="-80"/>
              <a:t> </a:t>
            </a:r>
            <a:r>
              <a:rPr dirty="0" sz="2400" spc="-10"/>
              <a:t>Module</a:t>
            </a:r>
            <a:endParaRPr sz="2400"/>
          </a:p>
          <a:p>
            <a:pPr marL="361950" marR="5080">
              <a:lnSpc>
                <a:spcPct val="145900"/>
              </a:lnSpc>
              <a:spcBef>
                <a:spcPts val="445"/>
              </a:spcBef>
            </a:pPr>
            <a:r>
              <a:rPr dirty="0" sz="2000" b="0">
                <a:latin typeface="Cambria"/>
                <a:cs typeface="Cambria"/>
              </a:rPr>
              <a:t>Converts</a:t>
            </a:r>
            <a:r>
              <a:rPr dirty="0" sz="2000" spc="-6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queries,</a:t>
            </a:r>
            <a:r>
              <a:rPr dirty="0" sz="2000" spc="-6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resumes,</a:t>
            </a:r>
            <a:r>
              <a:rPr dirty="0" sz="2000" spc="-5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and</a:t>
            </a:r>
            <a:r>
              <a:rPr dirty="0" sz="2000" spc="-4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job</a:t>
            </a:r>
            <a:r>
              <a:rPr dirty="0" sz="2000" spc="-4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postings</a:t>
            </a:r>
            <a:r>
              <a:rPr dirty="0" sz="2000" spc="-6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between</a:t>
            </a:r>
            <a:r>
              <a:rPr dirty="0" sz="2000" spc="-4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multiple</a:t>
            </a:r>
            <a:r>
              <a:rPr dirty="0" sz="2000" spc="-3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languages</a:t>
            </a:r>
            <a:r>
              <a:rPr dirty="0" sz="2000" spc="-5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(English,</a:t>
            </a:r>
            <a:r>
              <a:rPr dirty="0" sz="2000" spc="-60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Hindi, </a:t>
            </a:r>
            <a:r>
              <a:rPr dirty="0" sz="2000" b="0">
                <a:latin typeface="Cambria"/>
                <a:cs typeface="Cambria"/>
              </a:rPr>
              <a:t>Telugu,</a:t>
            </a:r>
            <a:r>
              <a:rPr dirty="0" sz="2000" spc="-4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etc.).</a:t>
            </a:r>
            <a:endParaRPr sz="2000">
              <a:latin typeface="Cambria"/>
              <a:cs typeface="Cambria"/>
            </a:endParaRPr>
          </a:p>
          <a:p>
            <a:pPr marL="365125" marR="2002155">
              <a:lnSpc>
                <a:spcPct val="153200"/>
              </a:lnSpc>
              <a:spcBef>
                <a:spcPts val="75"/>
              </a:spcBef>
            </a:pPr>
            <a:r>
              <a:rPr dirty="0" sz="2000" b="0">
                <a:latin typeface="Cambria"/>
                <a:cs typeface="Cambria"/>
              </a:rPr>
              <a:t>Uses</a:t>
            </a:r>
            <a:r>
              <a:rPr dirty="0" sz="2000" spc="13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NLP-based</a:t>
            </a:r>
            <a:r>
              <a:rPr dirty="0" sz="2000" spc="12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translation</a:t>
            </a:r>
            <a:r>
              <a:rPr dirty="0" sz="2000" spc="11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(mBERT,</a:t>
            </a:r>
            <a:r>
              <a:rPr dirty="0" sz="2000" spc="9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XLM-R,</a:t>
            </a:r>
            <a:r>
              <a:rPr dirty="0" sz="2000" spc="19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Hugging</a:t>
            </a:r>
            <a:r>
              <a:rPr dirty="0" sz="2000" spc="15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Face</a:t>
            </a:r>
            <a:r>
              <a:rPr dirty="0" sz="2000" spc="210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models). </a:t>
            </a:r>
            <a:r>
              <a:rPr dirty="0" sz="2000" b="0">
                <a:latin typeface="Cambria"/>
                <a:cs typeface="Cambria"/>
              </a:rPr>
              <a:t>Helps</a:t>
            </a:r>
            <a:r>
              <a:rPr dirty="0" sz="2000" spc="-3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break</a:t>
            </a:r>
            <a:r>
              <a:rPr dirty="0" sz="2000" spc="-5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language</a:t>
            </a:r>
            <a:r>
              <a:rPr dirty="0" sz="2000" spc="-8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barriers</a:t>
            </a:r>
            <a:r>
              <a:rPr dirty="0" sz="2000" spc="-8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in</a:t>
            </a:r>
            <a:r>
              <a:rPr dirty="0" sz="2000" spc="-3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job</a:t>
            </a:r>
            <a:r>
              <a:rPr dirty="0" sz="2000" spc="-60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search.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8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Project</a:t>
            </a:r>
            <a:r>
              <a:rPr dirty="0" spc="17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Modules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89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/>
              <a:t>3.</a:t>
            </a:r>
            <a:r>
              <a:rPr dirty="0" spc="90"/>
              <a:t> </a:t>
            </a:r>
            <a:r>
              <a:rPr dirty="0"/>
              <a:t>Job</a:t>
            </a:r>
            <a:r>
              <a:rPr dirty="0" spc="100"/>
              <a:t> </a:t>
            </a:r>
            <a:r>
              <a:rPr dirty="0"/>
              <a:t>Recommendation</a:t>
            </a:r>
            <a:r>
              <a:rPr dirty="0" spc="145"/>
              <a:t> </a:t>
            </a:r>
            <a:r>
              <a:rPr dirty="0" spc="-10"/>
              <a:t>Engine</a:t>
            </a:r>
          </a:p>
          <a:p>
            <a:pPr marL="365125" marR="2202180">
              <a:lnSpc>
                <a:spcPct val="151100"/>
              </a:lnSpc>
              <a:spcBef>
                <a:spcPts val="35"/>
              </a:spcBef>
            </a:pPr>
            <a:r>
              <a:rPr dirty="0" sz="2000" b="0">
                <a:latin typeface="Cambria"/>
                <a:cs typeface="Cambria"/>
              </a:rPr>
              <a:t>Matches</a:t>
            </a:r>
            <a:r>
              <a:rPr dirty="0" sz="2000" spc="-2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candidate’s</a:t>
            </a:r>
            <a:r>
              <a:rPr dirty="0" sz="2000" spc="-5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skills</a:t>
            </a:r>
            <a:r>
              <a:rPr dirty="0" sz="2000" spc="-1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and</a:t>
            </a:r>
            <a:r>
              <a:rPr dirty="0" sz="2000" spc="-6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preferences</a:t>
            </a:r>
            <a:r>
              <a:rPr dirty="0" sz="2000" spc="-6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with</a:t>
            </a:r>
            <a:r>
              <a:rPr dirty="0" sz="2000" spc="-6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available</a:t>
            </a:r>
            <a:r>
              <a:rPr dirty="0" sz="2000" spc="-5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job</a:t>
            </a:r>
            <a:r>
              <a:rPr dirty="0" sz="2000" spc="-7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postings. </a:t>
            </a:r>
            <a:r>
              <a:rPr dirty="0" sz="2000" b="0">
                <a:latin typeface="Cambria"/>
                <a:cs typeface="Cambria"/>
              </a:rPr>
              <a:t>Current</a:t>
            </a:r>
            <a:r>
              <a:rPr dirty="0" sz="2000" spc="4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20%</a:t>
            </a:r>
            <a:r>
              <a:rPr dirty="0" sz="2000" spc="-15" b="0">
                <a:latin typeface="Cambria"/>
                <a:cs typeface="Cambria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→</a:t>
            </a:r>
            <a:r>
              <a:rPr dirty="0" sz="2000" spc="-9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Cambria"/>
                <a:cs typeface="Cambria"/>
              </a:rPr>
              <a:t>TF–IDF</a:t>
            </a:r>
            <a:r>
              <a:rPr dirty="0" sz="2000" spc="1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based</a:t>
            </a:r>
            <a:r>
              <a:rPr dirty="0" sz="2000" spc="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recommender</a:t>
            </a:r>
            <a:r>
              <a:rPr dirty="0" sz="2000" spc="-4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(prototype).</a:t>
            </a:r>
            <a:endParaRPr sz="2000">
              <a:latin typeface="Cambria"/>
              <a:cs typeface="Cambria"/>
            </a:endParaRPr>
          </a:p>
          <a:p>
            <a:pPr marL="365125">
              <a:lnSpc>
                <a:spcPct val="100000"/>
              </a:lnSpc>
              <a:spcBef>
                <a:spcPts val="1275"/>
              </a:spcBef>
            </a:pPr>
            <a:r>
              <a:rPr dirty="0" sz="2000" b="0">
                <a:latin typeface="Cambria"/>
                <a:cs typeface="Cambria"/>
              </a:rPr>
              <a:t>Future</a:t>
            </a:r>
            <a:r>
              <a:rPr dirty="0" sz="2000" spc="20" b="0">
                <a:latin typeface="Cambria"/>
                <a:cs typeface="Cambria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→</a:t>
            </a:r>
            <a:r>
              <a:rPr dirty="0" sz="2000" spc="-6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Cambria"/>
                <a:cs typeface="Cambria"/>
              </a:rPr>
              <a:t>Upgrade</a:t>
            </a:r>
            <a:r>
              <a:rPr dirty="0" sz="2000" spc="7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to</a:t>
            </a:r>
            <a:r>
              <a:rPr dirty="0" sz="2000" spc="5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embedding-</a:t>
            </a:r>
            <a:r>
              <a:rPr dirty="0" sz="2000" b="0">
                <a:latin typeface="Cambria"/>
                <a:cs typeface="Cambria"/>
              </a:rPr>
              <a:t>based</a:t>
            </a:r>
            <a:r>
              <a:rPr dirty="0" sz="2000" spc="1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recommendation</a:t>
            </a:r>
            <a:r>
              <a:rPr dirty="0" sz="2000" spc="-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(BERT/Sentence</a:t>
            </a:r>
            <a:r>
              <a:rPr dirty="0" sz="2000" spc="10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Transformers)</a:t>
            </a:r>
            <a:endParaRPr sz="2000">
              <a:latin typeface="Cambria"/>
              <a:cs typeface="Cambria"/>
            </a:endParaRPr>
          </a:p>
          <a:p>
            <a:pPr marL="365125">
              <a:lnSpc>
                <a:spcPct val="100000"/>
              </a:lnSpc>
              <a:spcBef>
                <a:spcPts val="1200"/>
              </a:spcBef>
            </a:pPr>
            <a:r>
              <a:rPr dirty="0" sz="1550"/>
              <a:t>5.</a:t>
            </a:r>
            <a:r>
              <a:rPr dirty="0" sz="1550" spc="100"/>
              <a:t> </a:t>
            </a:r>
            <a:r>
              <a:rPr dirty="0" sz="1550"/>
              <a:t>Resume</a:t>
            </a:r>
            <a:r>
              <a:rPr dirty="0" sz="1550" spc="160"/>
              <a:t> </a:t>
            </a:r>
            <a:r>
              <a:rPr dirty="0" sz="1550"/>
              <a:t>Parsing</a:t>
            </a:r>
            <a:r>
              <a:rPr dirty="0" sz="1550" spc="80"/>
              <a:t> </a:t>
            </a:r>
            <a:r>
              <a:rPr dirty="0" sz="1550"/>
              <a:t>&amp;</a:t>
            </a:r>
            <a:r>
              <a:rPr dirty="0" sz="1550" spc="145"/>
              <a:t> </a:t>
            </a:r>
            <a:r>
              <a:rPr dirty="0" sz="1550"/>
              <a:t>Optimization</a:t>
            </a:r>
            <a:r>
              <a:rPr dirty="0" sz="1550" spc="90"/>
              <a:t> </a:t>
            </a:r>
            <a:r>
              <a:rPr dirty="0" sz="1550" spc="-10"/>
              <a:t>Module</a:t>
            </a:r>
            <a:endParaRPr sz="1550"/>
          </a:p>
          <a:p>
            <a:pPr marL="365125">
              <a:lnSpc>
                <a:spcPct val="100000"/>
              </a:lnSpc>
              <a:spcBef>
                <a:spcPts val="894"/>
              </a:spcBef>
            </a:pPr>
            <a:r>
              <a:rPr dirty="0" sz="2000" b="0">
                <a:latin typeface="Cambria"/>
                <a:cs typeface="Cambria"/>
              </a:rPr>
              <a:t>Extracts</a:t>
            </a:r>
            <a:r>
              <a:rPr dirty="0" sz="2000" spc="-6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skills,</a:t>
            </a:r>
            <a:r>
              <a:rPr dirty="0" sz="2000" spc="-6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education,</a:t>
            </a:r>
            <a:r>
              <a:rPr dirty="0" sz="2000" spc="-5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and</a:t>
            </a:r>
            <a:r>
              <a:rPr dirty="0" sz="2000" spc="-4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experience</a:t>
            </a:r>
            <a:r>
              <a:rPr dirty="0" sz="2000" spc="2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from</a:t>
            </a:r>
            <a:r>
              <a:rPr dirty="0" sz="2000" spc="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uploaded</a:t>
            </a:r>
            <a:r>
              <a:rPr dirty="0" sz="2000" spc="-40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resumes.</a:t>
            </a:r>
            <a:endParaRPr sz="2000">
              <a:latin typeface="Cambria"/>
              <a:cs typeface="Cambria"/>
            </a:endParaRPr>
          </a:p>
          <a:p>
            <a:pPr marL="365125" marR="4053840">
              <a:lnSpc>
                <a:spcPct val="151100"/>
              </a:lnSpc>
              <a:spcBef>
                <a:spcPts val="75"/>
              </a:spcBef>
            </a:pPr>
            <a:r>
              <a:rPr dirty="0" sz="2000" spc="-10" b="0">
                <a:latin typeface="Cambria"/>
                <a:cs typeface="Cambria"/>
              </a:rPr>
              <a:t>Optimizes</a:t>
            </a:r>
            <a:r>
              <a:rPr dirty="0" sz="2000" spc="-7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resumes</a:t>
            </a:r>
            <a:r>
              <a:rPr dirty="0" sz="2000" spc="-4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with</a:t>
            </a:r>
            <a:r>
              <a:rPr dirty="0" sz="2000" spc="-5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ATS-</a:t>
            </a:r>
            <a:r>
              <a:rPr dirty="0" sz="2000" b="0">
                <a:latin typeface="Cambria"/>
                <a:cs typeface="Cambria"/>
              </a:rPr>
              <a:t>friendly</a:t>
            </a:r>
            <a:r>
              <a:rPr dirty="0" sz="2000" spc="-1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keywords. </a:t>
            </a:r>
            <a:r>
              <a:rPr dirty="0" sz="2000" b="0">
                <a:latin typeface="Cambria"/>
                <a:cs typeface="Cambria"/>
              </a:rPr>
              <a:t>Matches</a:t>
            </a:r>
            <a:r>
              <a:rPr dirty="0" sz="2000" spc="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candidate</a:t>
            </a:r>
            <a:r>
              <a:rPr dirty="0" sz="2000" spc="-5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profiles</a:t>
            </a:r>
            <a:r>
              <a:rPr dirty="0" sz="2000" spc="-50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against</a:t>
            </a:r>
            <a:r>
              <a:rPr dirty="0" sz="2000" spc="-5" b="0">
                <a:latin typeface="Cambria"/>
                <a:cs typeface="Cambria"/>
              </a:rPr>
              <a:t> </a:t>
            </a:r>
            <a:r>
              <a:rPr dirty="0" sz="2000" b="0">
                <a:latin typeface="Cambria"/>
                <a:cs typeface="Cambria"/>
              </a:rPr>
              <a:t>job</a:t>
            </a:r>
            <a:r>
              <a:rPr dirty="0" sz="2000" spc="-45" b="0">
                <a:latin typeface="Cambria"/>
                <a:cs typeface="Cambria"/>
              </a:rPr>
              <a:t> </a:t>
            </a:r>
            <a:r>
              <a:rPr dirty="0" sz="2000" spc="-10" b="0">
                <a:latin typeface="Cambria"/>
                <a:cs typeface="Cambria"/>
              </a:rPr>
              <a:t>requirements.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8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Project</a:t>
            </a:r>
            <a:r>
              <a:rPr dirty="0" spc="17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Modules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6267" y="1235709"/>
            <a:ext cx="8140700" cy="476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Verdana"/>
              <a:buAutoNum type="arabicPeriod" startAt="5"/>
              <a:tabLst>
                <a:tab pos="440690" algn="l"/>
              </a:tabLst>
            </a:pPr>
            <a:r>
              <a:rPr dirty="0" sz="2400" b="1">
                <a:latin typeface="Verdana"/>
                <a:cs typeface="Verdana"/>
              </a:rPr>
              <a:t>Chatbot</a:t>
            </a:r>
            <a:r>
              <a:rPr dirty="0" sz="2400" spc="-25" b="1">
                <a:latin typeface="Verdana"/>
                <a:cs typeface="Verdana"/>
              </a:rPr>
              <a:t> </a:t>
            </a:r>
            <a:r>
              <a:rPr dirty="0" sz="2400" spc="-10" b="1">
                <a:latin typeface="Verdana"/>
                <a:cs typeface="Verdana"/>
              </a:rPr>
              <a:t>Module</a:t>
            </a:r>
            <a:endParaRPr sz="2400">
              <a:latin typeface="Verdana"/>
              <a:cs typeface="Verdana"/>
            </a:endParaRPr>
          </a:p>
          <a:p>
            <a:pPr marL="365125" marR="3364229">
              <a:lnSpc>
                <a:spcPct val="153200"/>
              </a:lnSpc>
              <a:spcBef>
                <a:spcPts val="270"/>
              </a:spcBef>
            </a:pPr>
            <a:r>
              <a:rPr dirty="0" sz="2000" spc="-10">
                <a:latin typeface="Cambria"/>
                <a:cs typeface="Cambria"/>
              </a:rPr>
              <a:t>AI-</a:t>
            </a:r>
            <a:r>
              <a:rPr dirty="0" sz="2000">
                <a:latin typeface="Cambria"/>
                <a:cs typeface="Cambria"/>
              </a:rPr>
              <a:t>driven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virtual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assistant</a:t>
            </a:r>
            <a:r>
              <a:rPr dirty="0" sz="2000" spc="-1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</a:t>
            </a:r>
            <a:r>
              <a:rPr dirty="0" sz="2000" spc="-9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guide</a:t>
            </a:r>
            <a:r>
              <a:rPr dirty="0" sz="2000" spc="-10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users. Provides:</a:t>
            </a:r>
            <a:endParaRPr sz="2000">
              <a:latin typeface="Cambria"/>
              <a:cs typeface="Cambria"/>
            </a:endParaRPr>
          </a:p>
          <a:p>
            <a:pPr marL="365125" marR="5263515">
              <a:lnSpc>
                <a:spcPct val="151100"/>
              </a:lnSpc>
              <a:spcBef>
                <a:spcPts val="50"/>
              </a:spcBef>
            </a:pPr>
            <a:r>
              <a:rPr dirty="0" sz="2000">
                <a:latin typeface="Cambria"/>
                <a:cs typeface="Cambria"/>
              </a:rPr>
              <a:t>FAQs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and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instructions. </a:t>
            </a:r>
            <a:r>
              <a:rPr dirty="0" sz="2000">
                <a:latin typeface="Cambria"/>
                <a:cs typeface="Cambria"/>
              </a:rPr>
              <a:t>Job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search</a:t>
            </a:r>
            <a:r>
              <a:rPr dirty="0" sz="2000" spc="13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assistance.</a:t>
            </a:r>
            <a:endParaRPr sz="2000">
              <a:latin typeface="Cambria"/>
              <a:cs typeface="Cambria"/>
            </a:endParaRPr>
          </a:p>
          <a:p>
            <a:pPr marL="365125" marR="4006215">
              <a:lnSpc>
                <a:spcPts val="3700"/>
              </a:lnSpc>
              <a:spcBef>
                <a:spcPts val="315"/>
              </a:spcBef>
            </a:pPr>
            <a:r>
              <a:rPr dirty="0" sz="2000">
                <a:latin typeface="Cambria"/>
                <a:cs typeface="Cambria"/>
              </a:rPr>
              <a:t>Resume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improvement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suggestions. </a:t>
            </a:r>
            <a:r>
              <a:rPr dirty="0" sz="2000" spc="-30">
                <a:latin typeface="Cambria"/>
                <a:cs typeface="Cambria"/>
              </a:rPr>
              <a:t>Supports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20">
                <a:latin typeface="Cambria"/>
                <a:cs typeface="Cambria"/>
              </a:rPr>
              <a:t>multilingual</a:t>
            </a:r>
            <a:r>
              <a:rPr dirty="0" sz="2000" spc="-2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interaction.</a:t>
            </a:r>
            <a:endParaRPr sz="2000">
              <a:latin typeface="Cambria"/>
              <a:cs typeface="Cambria"/>
            </a:endParaRPr>
          </a:p>
          <a:p>
            <a:pPr marL="437515" indent="-424815">
              <a:lnSpc>
                <a:spcPct val="100000"/>
              </a:lnSpc>
              <a:spcBef>
                <a:spcPts val="1340"/>
              </a:spcBef>
              <a:buFont typeface="Verdana"/>
              <a:buAutoNum type="arabicPeriod" startAt="6"/>
              <a:tabLst>
                <a:tab pos="437515" algn="l"/>
              </a:tabLst>
            </a:pPr>
            <a:r>
              <a:rPr dirty="0" sz="2400" b="1">
                <a:latin typeface="Verdana"/>
                <a:cs typeface="Verdana"/>
              </a:rPr>
              <a:t>Database</a:t>
            </a:r>
            <a:r>
              <a:rPr dirty="0" sz="2400" spc="5" b="1">
                <a:latin typeface="Verdana"/>
                <a:cs typeface="Verdana"/>
              </a:rPr>
              <a:t> </a:t>
            </a:r>
            <a:r>
              <a:rPr dirty="0" sz="2400" spc="-10" b="1">
                <a:latin typeface="Verdana"/>
                <a:cs typeface="Verdana"/>
              </a:rPr>
              <a:t>Module</a:t>
            </a:r>
            <a:endParaRPr sz="2400">
              <a:latin typeface="Verdana"/>
              <a:cs typeface="Verdana"/>
            </a:endParaRPr>
          </a:p>
          <a:p>
            <a:pPr marL="365125">
              <a:lnSpc>
                <a:spcPct val="100000"/>
              </a:lnSpc>
              <a:spcBef>
                <a:spcPts val="1495"/>
              </a:spcBef>
            </a:pPr>
            <a:r>
              <a:rPr dirty="0" sz="2000">
                <a:latin typeface="Cambria"/>
                <a:cs typeface="Cambria"/>
              </a:rPr>
              <a:t>Stores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job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postings,</a:t>
            </a:r>
            <a:r>
              <a:rPr dirty="0" sz="2000" spc="-3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resumes,</a:t>
            </a:r>
            <a:r>
              <a:rPr dirty="0" sz="2000" spc="-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and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user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interaction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logs.</a:t>
            </a:r>
            <a:endParaRPr sz="2000">
              <a:latin typeface="Cambria"/>
              <a:cs typeface="Cambria"/>
            </a:endParaRPr>
          </a:p>
          <a:p>
            <a:pPr marL="365125">
              <a:lnSpc>
                <a:spcPct val="100000"/>
              </a:lnSpc>
              <a:spcBef>
                <a:spcPts val="1280"/>
              </a:spcBef>
            </a:pPr>
            <a:r>
              <a:rPr dirty="0" sz="2000" spc="-10">
                <a:latin typeface="Cambria"/>
                <a:cs typeface="Cambria"/>
              </a:rPr>
              <a:t>Supports</a:t>
            </a:r>
            <a:r>
              <a:rPr dirty="0" sz="2000" spc="-114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efficient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retrieval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-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job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recommendation</a:t>
            </a:r>
            <a:r>
              <a:rPr dirty="0" sz="2000" spc="-8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and</a:t>
            </a:r>
            <a:r>
              <a:rPr dirty="0" sz="2000" spc="-9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resume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parsing.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Fully</a:t>
            </a:r>
            <a:r>
              <a:rPr dirty="0" spc="-30">
                <a:latin typeface="Verdana"/>
                <a:cs typeface="Verdana"/>
              </a:rPr>
              <a:t> </a:t>
            </a:r>
            <a:r>
              <a:rPr dirty="0" spc="-10">
                <a:latin typeface="Verdana"/>
                <a:cs typeface="Verdana"/>
              </a:rPr>
              <a:t>integration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8692" y="1235709"/>
            <a:ext cx="9765030" cy="346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Verdana"/>
                <a:cs typeface="Verdana"/>
              </a:rPr>
              <a:t>Enhance</a:t>
            </a:r>
            <a:r>
              <a:rPr dirty="0" sz="2400" spc="-8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NLP</a:t>
            </a:r>
            <a:r>
              <a:rPr dirty="0" sz="2400" spc="-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capabilities</a:t>
            </a:r>
            <a:r>
              <a:rPr dirty="0" sz="2400" spc="-5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with</a:t>
            </a:r>
            <a:r>
              <a:rPr dirty="0" sz="2400" spc="-1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ML</a:t>
            </a:r>
            <a:r>
              <a:rPr dirty="0" sz="2400" spc="-6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models</a:t>
            </a:r>
            <a:r>
              <a:rPr dirty="0" sz="2400" spc="-3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(BERT/GPT-based).</a:t>
            </a:r>
            <a:endParaRPr sz="24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Verdana"/>
                <a:cs typeface="Verdana"/>
              </a:rPr>
              <a:t>Add</a:t>
            </a:r>
            <a:r>
              <a:rPr dirty="0" sz="2400" spc="-7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advanced</a:t>
            </a:r>
            <a:r>
              <a:rPr dirty="0" sz="2400" spc="-5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resume</a:t>
            </a:r>
            <a:r>
              <a:rPr dirty="0" sz="2400" spc="-6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parser</a:t>
            </a:r>
            <a:r>
              <a:rPr dirty="0" sz="2400" spc="-6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for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skill</a:t>
            </a:r>
            <a:r>
              <a:rPr dirty="0" sz="2400" spc="-6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extraction.</a:t>
            </a:r>
            <a:endParaRPr sz="24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195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Verdana"/>
                <a:cs typeface="Verdana"/>
              </a:rPr>
              <a:t>Improve</a:t>
            </a:r>
            <a:r>
              <a:rPr dirty="0" sz="2400" spc="-10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job</a:t>
            </a:r>
            <a:r>
              <a:rPr dirty="0" sz="2400" spc="-6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recommendation</a:t>
            </a:r>
            <a:r>
              <a:rPr dirty="0" sz="2400" spc="-9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with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ranking</a:t>
            </a:r>
            <a:r>
              <a:rPr dirty="0" sz="2400" spc="-7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algorithms.</a:t>
            </a:r>
            <a:endParaRPr sz="24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Verdana"/>
                <a:cs typeface="Verdana"/>
              </a:rPr>
              <a:t>Develop</a:t>
            </a:r>
            <a:r>
              <a:rPr dirty="0" sz="2400" spc="-9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interactive</a:t>
            </a:r>
            <a:r>
              <a:rPr dirty="0" sz="2400" spc="-5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UI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(Web/Mobile)</a:t>
            </a:r>
            <a:r>
              <a:rPr dirty="0" sz="2400" spc="-9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for</a:t>
            </a:r>
            <a:r>
              <a:rPr dirty="0" sz="2400" spc="-9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user</a:t>
            </a:r>
            <a:r>
              <a:rPr dirty="0" sz="2400" spc="-9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interaction.</a:t>
            </a:r>
            <a:endParaRPr sz="24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195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Verdana"/>
                <a:cs typeface="Verdana"/>
              </a:rPr>
              <a:t>Add</a:t>
            </a:r>
            <a:r>
              <a:rPr dirty="0" sz="2400" spc="-6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Interview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Preparation</a:t>
            </a:r>
            <a:r>
              <a:rPr dirty="0" sz="2400" spc="-9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Module</a:t>
            </a:r>
            <a:r>
              <a:rPr dirty="0" sz="2400" spc="-8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(Q&amp;A,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tips).</a:t>
            </a:r>
            <a:endParaRPr sz="2400">
              <a:latin typeface="Verdana"/>
              <a:cs typeface="Verdana"/>
            </a:endParaRPr>
          </a:p>
          <a:p>
            <a:pPr marL="393065" indent="-3803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393065" algn="l"/>
              </a:tabLst>
            </a:pPr>
            <a:r>
              <a:rPr dirty="0" sz="2400">
                <a:latin typeface="Verdana"/>
                <a:cs typeface="Verdana"/>
              </a:rPr>
              <a:t>Conduct</a:t>
            </a:r>
            <a:r>
              <a:rPr dirty="0" sz="2400" spc="-7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user</a:t>
            </a:r>
            <a:r>
              <a:rPr dirty="0" sz="2400" spc="-9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testing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and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finalize</a:t>
            </a:r>
            <a:r>
              <a:rPr dirty="0" sz="2400" spc="-10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project</a:t>
            </a:r>
            <a:r>
              <a:rPr dirty="0" sz="2400" spc="-7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documentation.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37"/>
            <a:ext cx="10668000" cy="38735"/>
          </a:xfrm>
          <a:custGeom>
            <a:avLst/>
            <a:gdLst/>
            <a:ahLst/>
            <a:cxnLst/>
            <a:rect l="l" t="t" r="r" b="b"/>
            <a:pathLst>
              <a:path w="10668000" h="38734">
                <a:moveTo>
                  <a:pt x="10668000" y="0"/>
                </a:moveTo>
                <a:lnTo>
                  <a:pt x="0" y="0"/>
                </a:lnTo>
                <a:lnTo>
                  <a:pt x="0" y="27305"/>
                </a:lnTo>
                <a:lnTo>
                  <a:pt x="0" y="34277"/>
                </a:lnTo>
                <a:lnTo>
                  <a:pt x="0" y="38722"/>
                </a:lnTo>
                <a:lnTo>
                  <a:pt x="10668000" y="38722"/>
                </a:lnTo>
                <a:lnTo>
                  <a:pt x="10668000" y="34277"/>
                </a:lnTo>
                <a:lnTo>
                  <a:pt x="10668000" y="27305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875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dirty="0" spc="95"/>
              <a:t> </a:t>
            </a:r>
            <a:r>
              <a:rPr dirty="0" spc="-20"/>
              <a:t>Link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044892" y="1165859"/>
            <a:ext cx="8248650" cy="148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"/>
                <a:cs typeface="Cambria"/>
              </a:rPr>
              <a:t>The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Github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link</a:t>
            </a:r>
            <a:r>
              <a:rPr dirty="0" sz="2400" spc="-2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provided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should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have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public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access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permission.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Cambria"/>
              <a:cs typeface="Cambria"/>
            </a:endParaRPr>
          </a:p>
          <a:p>
            <a:pPr marL="12700" marR="1088390">
              <a:lnSpc>
                <a:spcPts val="2800"/>
              </a:lnSpc>
              <a:spcBef>
                <a:spcPts val="5"/>
              </a:spcBef>
            </a:pPr>
            <a:r>
              <a:rPr dirty="0" sz="2400" b="1">
                <a:solidFill>
                  <a:srgbClr val="933735"/>
                </a:solidFill>
                <a:latin typeface="Cambria"/>
                <a:cs typeface="Cambria"/>
              </a:rPr>
              <a:t>Github</a:t>
            </a:r>
            <a:r>
              <a:rPr dirty="0" sz="2400" spc="-100" b="1">
                <a:solidFill>
                  <a:srgbClr val="933735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933735"/>
                </a:solidFill>
                <a:latin typeface="Cambria"/>
                <a:cs typeface="Cambria"/>
              </a:rPr>
              <a:t>Link</a:t>
            </a:r>
            <a:r>
              <a:rPr dirty="0" sz="2400" spc="-95" b="1">
                <a:solidFill>
                  <a:srgbClr val="933735"/>
                </a:solidFill>
                <a:latin typeface="Cambria"/>
                <a:cs typeface="Cambria"/>
              </a:rPr>
              <a:t> </a:t>
            </a:r>
            <a:r>
              <a:rPr dirty="0" sz="2400" spc="-50" b="1">
                <a:solidFill>
                  <a:srgbClr val="933735"/>
                </a:solidFill>
                <a:latin typeface="Cambria"/>
                <a:cs typeface="Cambria"/>
              </a:rPr>
              <a:t>: </a:t>
            </a:r>
            <a:r>
              <a:rPr dirty="0" sz="2400" spc="-30" b="1">
                <a:latin typeface="Cambria"/>
                <a:cs typeface="Cambria"/>
              </a:rPr>
              <a:t>https://github.com/afridi0125/Ai_job_searching.git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37"/>
            <a:ext cx="10668000" cy="50800"/>
          </a:xfrm>
          <a:custGeom>
            <a:avLst/>
            <a:gdLst/>
            <a:ahLst/>
            <a:cxnLst/>
            <a:rect l="l" t="t" r="r" b="b"/>
            <a:pathLst>
              <a:path w="10668000" h="50800">
                <a:moveTo>
                  <a:pt x="10668000" y="39370"/>
                </a:moveTo>
                <a:lnTo>
                  <a:pt x="0" y="39370"/>
                </a:lnTo>
                <a:lnTo>
                  <a:pt x="0" y="50787"/>
                </a:lnTo>
                <a:lnTo>
                  <a:pt x="10668000" y="50787"/>
                </a:lnTo>
                <a:lnTo>
                  <a:pt x="10668000" y="39370"/>
                </a:lnTo>
                <a:close/>
              </a:path>
              <a:path w="10668000" h="50800">
                <a:moveTo>
                  <a:pt x="10668000" y="0"/>
                </a:moveTo>
                <a:lnTo>
                  <a:pt x="0" y="0"/>
                </a:lnTo>
                <a:lnTo>
                  <a:pt x="0" y="34277"/>
                </a:lnTo>
                <a:lnTo>
                  <a:pt x="10668000" y="34277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3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Timeline</a:t>
            </a:r>
            <a:r>
              <a:rPr dirty="0" spc="75"/>
              <a:t> </a:t>
            </a:r>
            <a:r>
              <a:rPr dirty="0"/>
              <a:t>of</a:t>
            </a:r>
            <a:r>
              <a:rPr dirty="0" spc="55"/>
              <a:t> </a:t>
            </a:r>
            <a:r>
              <a:rPr dirty="0"/>
              <a:t>the</a:t>
            </a:r>
            <a:r>
              <a:rPr dirty="0" spc="70"/>
              <a:t> </a:t>
            </a:r>
            <a:r>
              <a:rPr dirty="0" spc="-10"/>
              <a:t>Project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061" y="1310586"/>
            <a:ext cx="11179282" cy="54203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26"/>
            <a:ext cx="10668000" cy="34290"/>
          </a:xfrm>
          <a:custGeom>
            <a:avLst/>
            <a:gdLst/>
            <a:ahLst/>
            <a:cxnLst/>
            <a:rect l="l" t="t" r="r" b="b"/>
            <a:pathLst>
              <a:path w="10668000" h="34290">
                <a:moveTo>
                  <a:pt x="10668000" y="0"/>
                </a:moveTo>
                <a:lnTo>
                  <a:pt x="0" y="0"/>
                </a:lnTo>
                <a:lnTo>
                  <a:pt x="0" y="34288"/>
                </a:lnTo>
                <a:lnTo>
                  <a:pt x="10668000" y="34288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3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dirty="0" spc="130"/>
              <a:t> </a:t>
            </a:r>
            <a:r>
              <a:rPr dirty="0"/>
              <a:t>(IEEE</a:t>
            </a:r>
            <a:r>
              <a:rPr dirty="0" spc="105"/>
              <a:t> </a:t>
            </a:r>
            <a:r>
              <a:rPr dirty="0"/>
              <a:t>Paper</a:t>
            </a:r>
            <a:r>
              <a:rPr dirty="0" spc="60"/>
              <a:t> </a:t>
            </a:r>
            <a:r>
              <a:rPr dirty="0" spc="-10"/>
              <a:t>format)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5990588"/>
            <a:ext cx="12192000" cy="867410"/>
            <a:chOff x="0" y="5990588"/>
            <a:chExt cx="12192000" cy="8674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990588"/>
              <a:ext cx="12183109" cy="86613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602957"/>
              <a:ext cx="12191999" cy="25504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4300" y="6451246"/>
              <a:ext cx="357187" cy="29867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616267" y="980439"/>
            <a:ext cx="7917815" cy="475170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860"/>
              </a:spcBef>
              <a:buAutoNum type="arabicPlain"/>
              <a:tabLst>
                <a:tab pos="335915" algn="l"/>
              </a:tabLst>
            </a:pPr>
            <a:r>
              <a:rPr dirty="0" sz="1200" b="1">
                <a:latin typeface="Verdana"/>
                <a:cs typeface="Verdana"/>
              </a:rPr>
              <a:t>S.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T.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Al-</a:t>
            </a:r>
            <a:r>
              <a:rPr dirty="0" sz="1200" b="1">
                <a:latin typeface="Verdana"/>
                <a:cs typeface="Verdana"/>
              </a:rPr>
              <a:t>Otaibi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M.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Ykhlef,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“A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Survey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of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Recommender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Systems,”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International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Journal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of</a:t>
            </a:r>
            <a:r>
              <a:rPr dirty="0" sz="1200" spc="-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Physical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Sciences,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7,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no.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29,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5127–5142,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Dec.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2012.</a:t>
            </a:r>
            <a:endParaRPr sz="1200">
              <a:latin typeface="Verdana"/>
              <a:cs typeface="Verdana"/>
            </a:endParaRPr>
          </a:p>
          <a:p>
            <a:pPr marL="335915" indent="-323215">
              <a:lnSpc>
                <a:spcPct val="100000"/>
              </a:lnSpc>
              <a:spcBef>
                <a:spcPts val="735"/>
              </a:spcBef>
              <a:buAutoNum type="arabicPlain" startAt="2"/>
              <a:tabLst>
                <a:tab pos="335915" algn="l"/>
              </a:tabLst>
            </a:pPr>
            <a:r>
              <a:rPr dirty="0" sz="1200" b="1">
                <a:latin typeface="Verdana"/>
                <a:cs typeface="Verdana"/>
              </a:rPr>
              <a:t>C.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de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Ruijt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Bhulai,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“Job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Recommender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Systems: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Review,”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arXiv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preprint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arXiv:2111.13576,</a:t>
            </a:r>
            <a:r>
              <a:rPr dirty="0" sz="1200" spc="-70" b="1">
                <a:latin typeface="Verdana"/>
                <a:cs typeface="Verdana"/>
              </a:rPr>
              <a:t> </a:t>
            </a:r>
            <a:r>
              <a:rPr dirty="0" sz="1200" spc="-20" b="1">
                <a:latin typeface="Verdana"/>
                <a:cs typeface="Verdana"/>
              </a:rPr>
              <a:t>2021.</a:t>
            </a:r>
            <a:endParaRPr sz="1200">
              <a:latin typeface="Verdana"/>
              <a:cs typeface="Verdana"/>
            </a:endParaRPr>
          </a:p>
          <a:p>
            <a:pPr marL="12700" marR="873125" indent="323215">
              <a:lnSpc>
                <a:spcPts val="2200"/>
              </a:lnSpc>
              <a:spcBef>
                <a:spcPts val="180"/>
              </a:spcBef>
              <a:buAutoNum type="arabicPlain" startAt="3"/>
              <a:tabLst>
                <a:tab pos="335915" algn="l"/>
              </a:tabLst>
            </a:pPr>
            <a:r>
              <a:rPr dirty="0" sz="1200" b="1">
                <a:latin typeface="Verdana"/>
                <a:cs typeface="Verdana"/>
              </a:rPr>
              <a:t>S.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Gupta,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Singh,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V.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Kumar,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“Semantic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Recommendation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using</a:t>
            </a:r>
            <a:r>
              <a:rPr dirty="0" sz="1200" spc="-20" b="1">
                <a:latin typeface="Verdana"/>
                <a:cs typeface="Verdana"/>
              </a:rPr>
              <a:t> BERT </a:t>
            </a:r>
            <a:r>
              <a:rPr dirty="0" sz="1200" b="1">
                <a:latin typeface="Verdana"/>
                <a:cs typeface="Verdana"/>
              </a:rPr>
              <a:t>Embeddings,”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IEEE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Access,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9,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76543–76557,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2022.</a:t>
            </a:r>
            <a:endParaRPr sz="1200">
              <a:latin typeface="Verdana"/>
              <a:cs typeface="Verdana"/>
            </a:endParaRPr>
          </a:p>
          <a:p>
            <a:pPr marL="335915" indent="-323215">
              <a:lnSpc>
                <a:spcPct val="100000"/>
              </a:lnSpc>
              <a:spcBef>
                <a:spcPts val="535"/>
              </a:spcBef>
              <a:buAutoNum type="arabicPlain" startAt="3"/>
              <a:tabLst>
                <a:tab pos="335915" algn="l"/>
              </a:tabLst>
            </a:pPr>
            <a:r>
              <a:rPr dirty="0" sz="1200" b="1">
                <a:latin typeface="Verdana"/>
                <a:cs typeface="Verdana"/>
              </a:rPr>
              <a:t>A.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Brek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Z.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Boufaida,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“Semantic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Approaches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Survey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for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Recommender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Systems,”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CEUR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Workshop</a:t>
            </a:r>
            <a:r>
              <a:rPr dirty="0" sz="1200" spc="-10" b="1">
                <a:latin typeface="Verdana"/>
                <a:cs typeface="Verdana"/>
              </a:rPr>
              <a:t> Proceedings,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3176,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2020.</a:t>
            </a:r>
            <a:endParaRPr sz="1200">
              <a:latin typeface="Verdana"/>
              <a:cs typeface="Verdana"/>
            </a:endParaRPr>
          </a:p>
          <a:p>
            <a:pPr marL="12700" marR="83820" indent="323215">
              <a:lnSpc>
                <a:spcPts val="2200"/>
              </a:lnSpc>
              <a:spcBef>
                <a:spcPts val="175"/>
              </a:spcBef>
              <a:buAutoNum type="arabicPlain" startAt="5"/>
              <a:tabLst>
                <a:tab pos="335915" algn="l"/>
              </a:tabLst>
            </a:pPr>
            <a:r>
              <a:rPr dirty="0" sz="1200" b="1">
                <a:latin typeface="Verdana"/>
                <a:cs typeface="Verdana"/>
              </a:rPr>
              <a:t>H.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Zhang,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L.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Chen,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Liu,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“Reinforcement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Learning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in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Personalized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Recommender </a:t>
            </a:r>
            <a:r>
              <a:rPr dirty="0" sz="1200" b="1">
                <a:latin typeface="Verdana"/>
                <a:cs typeface="Verdana"/>
              </a:rPr>
              <a:t>Systems,”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IEEE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Transactions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on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Knowledge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Data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Engineering,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35,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no.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3,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4201–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latin typeface="Verdana"/>
                <a:cs typeface="Verdana"/>
              </a:rPr>
              <a:t>4214,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20" b="1">
                <a:latin typeface="Verdana"/>
                <a:cs typeface="Verdana"/>
              </a:rPr>
              <a:t>2023.</a:t>
            </a:r>
            <a:endParaRPr sz="1200">
              <a:latin typeface="Verdana"/>
              <a:cs typeface="Verdana"/>
            </a:endParaRPr>
          </a:p>
          <a:p>
            <a:pPr marL="12700" marR="5080" indent="323215">
              <a:lnSpc>
                <a:spcPct val="152000"/>
              </a:lnSpc>
              <a:spcBef>
                <a:spcPts val="10"/>
              </a:spcBef>
              <a:buAutoNum type="arabicPlain" startAt="6"/>
              <a:tabLst>
                <a:tab pos="335915" algn="l"/>
              </a:tabLst>
            </a:pPr>
            <a:r>
              <a:rPr dirty="0" sz="1200" b="1">
                <a:latin typeface="Verdana"/>
                <a:cs typeface="Verdana"/>
              </a:rPr>
              <a:t>W.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Shalaby,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AlAila,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Korayem,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W.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Zadrozny,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“Help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Me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Find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Job: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GraphBased </a:t>
            </a:r>
            <a:r>
              <a:rPr dirty="0" sz="1200" b="1">
                <a:latin typeface="Verdana"/>
                <a:cs typeface="Verdana"/>
              </a:rPr>
              <a:t>Approach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for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Recommendation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at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Scale,”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arXiv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preprint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arXiv:1801.00377,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2018.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25" b="1">
                <a:latin typeface="Verdana"/>
                <a:cs typeface="Verdana"/>
              </a:rPr>
              <a:t>[7] </a:t>
            </a:r>
            <a:r>
              <a:rPr dirty="0" sz="1200" b="1">
                <a:latin typeface="Verdana"/>
                <a:cs typeface="Verdana"/>
              </a:rPr>
              <a:t>HireVue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Inc.,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“HireVue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AI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Platform,”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2024.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[Online].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Available: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https://</a:t>
            </a:r>
            <a:r>
              <a:rPr dirty="0" sz="1200" spc="-10" b="1">
                <a:latin typeface="Verdana"/>
                <a:cs typeface="Verdana"/>
                <a:hlinkClick r:id="rId5"/>
              </a:rPr>
              <a:t>www.hirevue.com/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200" b="1">
                <a:latin typeface="Verdana"/>
                <a:cs typeface="Verdana"/>
              </a:rPr>
              <a:t>[8]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Hiretual,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“Hiretual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AI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Recruiting</a:t>
            </a:r>
            <a:r>
              <a:rPr dirty="0" sz="1200" spc="-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Platform,”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2024.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[Online].</a:t>
            </a:r>
            <a:endParaRPr sz="1200">
              <a:latin typeface="Verdana"/>
              <a:cs typeface="Verdana"/>
            </a:endParaRPr>
          </a:p>
          <a:p>
            <a:pPr marL="12700" marR="5497195">
              <a:lnSpc>
                <a:spcPct val="151000"/>
              </a:lnSpc>
              <a:spcBef>
                <a:spcPts val="25"/>
              </a:spcBef>
            </a:pPr>
            <a:r>
              <a:rPr dirty="0" sz="1200" spc="-10" b="1">
                <a:latin typeface="Verdana"/>
                <a:cs typeface="Verdana"/>
              </a:rPr>
              <a:t>Available: https://</a:t>
            </a:r>
            <a:r>
              <a:rPr dirty="0" sz="1200" spc="-10" b="1">
                <a:latin typeface="Verdana"/>
                <a:cs typeface="Verdana"/>
                <a:hlinkClick r:id="rId6"/>
              </a:rPr>
              <a:t>www.hiretual.com/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87119" y="1030479"/>
            <a:ext cx="10668000" cy="11430"/>
          </a:xfrm>
          <a:custGeom>
            <a:avLst/>
            <a:gdLst/>
            <a:ahLst/>
            <a:cxnLst/>
            <a:rect l="l" t="t" r="r" b="b"/>
            <a:pathLst>
              <a:path w="10668000" h="11430">
                <a:moveTo>
                  <a:pt x="10668000" y="0"/>
                </a:moveTo>
                <a:lnTo>
                  <a:pt x="0" y="0"/>
                </a:lnTo>
                <a:lnTo>
                  <a:pt x="0" y="11428"/>
                </a:lnTo>
                <a:lnTo>
                  <a:pt x="10668000" y="11428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877185" y="6492875"/>
            <a:ext cx="5721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Week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12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19295" y="6327775"/>
            <a:ext cx="1384300" cy="526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05"/>
              </a:spcBef>
            </a:pPr>
            <a:r>
              <a:rPr dirty="0" sz="1100">
                <a:latin typeface="Arial MT"/>
                <a:cs typeface="Arial MT"/>
              </a:rPr>
              <a:t>Initial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testing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&amp; </a:t>
            </a:r>
            <a:r>
              <a:rPr dirty="0" sz="1100" spc="-10">
                <a:latin typeface="Arial MT"/>
                <a:cs typeface="Arial MT"/>
              </a:rPr>
              <a:t>debugging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of </a:t>
            </a:r>
            <a:r>
              <a:rPr dirty="0" sz="1100" spc="-10">
                <a:latin typeface="Arial MT"/>
                <a:cs typeface="Arial MT"/>
              </a:rPr>
              <a:t>implemented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modules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64326" y="6492875"/>
            <a:ext cx="4603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1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week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038083" y="6492875"/>
            <a:ext cx="6902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 MT"/>
                <a:cs typeface="Arial MT"/>
              </a:rPr>
              <a:t>Completed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26"/>
            <a:ext cx="10668000" cy="34290"/>
          </a:xfrm>
          <a:custGeom>
            <a:avLst/>
            <a:gdLst/>
            <a:ahLst/>
            <a:cxnLst/>
            <a:rect l="l" t="t" r="r" b="b"/>
            <a:pathLst>
              <a:path w="10668000" h="34290">
                <a:moveTo>
                  <a:pt x="10668000" y="0"/>
                </a:moveTo>
                <a:lnTo>
                  <a:pt x="0" y="0"/>
                </a:lnTo>
                <a:lnTo>
                  <a:pt x="0" y="34288"/>
                </a:lnTo>
                <a:lnTo>
                  <a:pt x="10668000" y="34288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492" y="288861"/>
            <a:ext cx="5166360" cy="4451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dirty="0" spc="130"/>
              <a:t> </a:t>
            </a:r>
            <a:r>
              <a:rPr dirty="0"/>
              <a:t>(IEEE</a:t>
            </a:r>
            <a:r>
              <a:rPr dirty="0" spc="105"/>
              <a:t> </a:t>
            </a:r>
            <a:r>
              <a:rPr dirty="0"/>
              <a:t>Paper</a:t>
            </a:r>
            <a:r>
              <a:rPr dirty="0" spc="60"/>
              <a:t> </a:t>
            </a:r>
            <a:r>
              <a:rPr dirty="0" spc="-10"/>
              <a:t>format)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16267" y="808989"/>
            <a:ext cx="8035290" cy="503174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860"/>
              </a:spcBef>
              <a:buAutoNum type="arabicPlain" startAt="9"/>
              <a:tabLst>
                <a:tab pos="335915" algn="l"/>
              </a:tabLst>
            </a:pPr>
            <a:r>
              <a:rPr dirty="0" sz="1200" b="1">
                <a:latin typeface="Verdana"/>
                <a:cs typeface="Verdana"/>
              </a:rPr>
              <a:t>D.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Ç.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Ertuğrul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S.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Bitirim,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“Job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Recommender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Systems: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Systematic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Literature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Review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(2010–2023),”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Journal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of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Big Data,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12,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140,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2025.</a:t>
            </a:r>
            <a:endParaRPr sz="1200">
              <a:latin typeface="Verdana"/>
              <a:cs typeface="Verdana"/>
            </a:endParaRPr>
          </a:p>
          <a:p>
            <a:pPr marL="443230" indent="-430530">
              <a:lnSpc>
                <a:spcPct val="100000"/>
              </a:lnSpc>
              <a:spcBef>
                <a:spcPts val="735"/>
              </a:spcBef>
              <a:buAutoNum type="arabicPlain" startAt="10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Y.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Mashayekhi,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Li,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Kang,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T.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De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Bie,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“A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Challenge-Based</a:t>
            </a:r>
            <a:r>
              <a:rPr dirty="0" sz="1200" spc="-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Survey</a:t>
            </a:r>
            <a:r>
              <a:rPr dirty="0" sz="1200" spc="-25" b="1">
                <a:latin typeface="Verdana"/>
                <a:cs typeface="Verdana"/>
              </a:rPr>
              <a:t> of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eRecruitment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Recommendation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Systems,”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arXiv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preprint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arXiv:2209.05112,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2022.</a:t>
            </a:r>
            <a:endParaRPr sz="1200">
              <a:latin typeface="Verdana"/>
              <a:cs typeface="Verdana"/>
            </a:endParaRPr>
          </a:p>
          <a:p>
            <a:pPr marL="12700" marR="598170" indent="430530">
              <a:lnSpc>
                <a:spcPts val="2200"/>
              </a:lnSpc>
              <a:spcBef>
                <a:spcPts val="175"/>
              </a:spcBef>
              <a:buAutoNum type="arabicPlain" startAt="11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Y.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Mashayekhi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et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al.,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“ReCon: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Reducing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Congestion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in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10" b="1">
                <a:latin typeface="Verdana"/>
                <a:cs typeface="Verdana"/>
              </a:rPr>
              <a:t> Recommendation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using </a:t>
            </a:r>
            <a:r>
              <a:rPr dirty="0" sz="1200" b="1">
                <a:latin typeface="Verdana"/>
                <a:cs typeface="Verdana"/>
              </a:rPr>
              <a:t>Optimal</a:t>
            </a:r>
            <a:r>
              <a:rPr dirty="0" sz="1200" spc="-7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Transport,”</a:t>
            </a:r>
            <a:r>
              <a:rPr dirty="0" sz="1200" spc="-6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arXiv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preprint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arXiv:2308.09516,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2023.</a:t>
            </a:r>
            <a:endParaRPr sz="1200">
              <a:latin typeface="Verdana"/>
              <a:cs typeface="Verdana"/>
            </a:endParaRPr>
          </a:p>
          <a:p>
            <a:pPr marL="443230" indent="-430530">
              <a:lnSpc>
                <a:spcPct val="100000"/>
              </a:lnSpc>
              <a:spcBef>
                <a:spcPts val="540"/>
              </a:spcBef>
              <a:buAutoNum type="arabicPlain" startAt="11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P.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Singla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V.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Verma,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“An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Intelligent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Recommendation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Based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on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Semantic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Embeddings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Machine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Learning,”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Journal</a:t>
            </a:r>
            <a:r>
              <a:rPr dirty="0" sz="1200" spc="-7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of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Information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Systems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Engineering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spc="-25" b="1">
                <a:latin typeface="Verdana"/>
                <a:cs typeface="Verdana"/>
              </a:rPr>
              <a:t>and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Verdana"/>
                <a:cs typeface="Verdana"/>
              </a:rPr>
              <a:t>Management,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10,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no.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5,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520–542,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2025.</a:t>
            </a:r>
            <a:endParaRPr sz="1200">
              <a:latin typeface="Verdana"/>
              <a:cs typeface="Verdana"/>
            </a:endParaRPr>
          </a:p>
          <a:p>
            <a:pPr marL="443230" indent="-430530">
              <a:lnSpc>
                <a:spcPct val="100000"/>
              </a:lnSpc>
              <a:spcBef>
                <a:spcPts val="760"/>
              </a:spcBef>
              <a:buAutoNum type="arabicPlain" startAt="13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H.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Wang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Y.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Xu,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“Hybrid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Deep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Neural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Networks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for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Semantic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Matching,”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20" b="1">
                <a:latin typeface="Verdana"/>
                <a:cs typeface="Verdana"/>
              </a:rPr>
              <a:t>IEEE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200" b="1">
                <a:latin typeface="Verdana"/>
                <a:cs typeface="Verdana"/>
              </a:rPr>
              <a:t>Access,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10,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88321–88340,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2022.</a:t>
            </a:r>
            <a:endParaRPr sz="1200">
              <a:latin typeface="Verdana"/>
              <a:cs typeface="Verdana"/>
            </a:endParaRPr>
          </a:p>
          <a:p>
            <a:pPr marL="443230" indent="-430530">
              <a:lnSpc>
                <a:spcPct val="100000"/>
              </a:lnSpc>
              <a:spcBef>
                <a:spcPts val="760"/>
              </a:spcBef>
              <a:buAutoNum type="arabicPlain" startAt="14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L.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Li,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Xie,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R.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Zhao,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“Ontology-</a:t>
            </a:r>
            <a:r>
              <a:rPr dirty="0" sz="1200" b="1">
                <a:latin typeface="Verdana"/>
                <a:cs typeface="Verdana"/>
              </a:rPr>
              <a:t>Based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Resume–Job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Matching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for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Intelligent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Verdana"/>
                <a:cs typeface="Verdana"/>
              </a:rPr>
              <a:t>Recruitment,”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Knowledge-</a:t>
            </a:r>
            <a:r>
              <a:rPr dirty="0" sz="1200" b="1">
                <a:latin typeface="Verdana"/>
                <a:cs typeface="Verdana"/>
              </a:rPr>
              <a:t>Based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Systems,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240,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108076,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2022.</a:t>
            </a:r>
            <a:endParaRPr sz="1200">
              <a:latin typeface="Verdana"/>
              <a:cs typeface="Verdana"/>
            </a:endParaRPr>
          </a:p>
          <a:p>
            <a:pPr marL="443230" indent="-430530">
              <a:lnSpc>
                <a:spcPct val="100000"/>
              </a:lnSpc>
              <a:spcBef>
                <a:spcPts val="760"/>
              </a:spcBef>
              <a:buAutoNum type="arabicPlain" startAt="15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J.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Zhou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Q.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Chen,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“Graph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Neural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Networks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for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Context-</a:t>
            </a:r>
            <a:r>
              <a:rPr dirty="0" sz="1200" b="1">
                <a:latin typeface="Verdana"/>
                <a:cs typeface="Verdana"/>
              </a:rPr>
              <a:t>Aware</a:t>
            </a:r>
            <a:r>
              <a:rPr dirty="0" sz="1200" spc="-25" b="1">
                <a:latin typeface="Verdana"/>
                <a:cs typeface="Verdana"/>
              </a:rPr>
              <a:t> Job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200" spc="-10" b="1">
                <a:latin typeface="Verdana"/>
                <a:cs typeface="Verdana"/>
              </a:rPr>
              <a:t>Recommendation,”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Expert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Systems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with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Applications,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220,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119722,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2023.</a:t>
            </a:r>
            <a:endParaRPr sz="1200">
              <a:latin typeface="Verdana"/>
              <a:cs typeface="Verdana"/>
            </a:endParaRPr>
          </a:p>
          <a:p>
            <a:pPr marL="12700" marR="213360" indent="430530">
              <a:lnSpc>
                <a:spcPct val="152000"/>
              </a:lnSpc>
              <a:spcBef>
                <a:spcPts val="15"/>
              </a:spcBef>
              <a:buAutoNum type="arabicPlain" startAt="16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M.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Dascălu,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C.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H.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Popescu,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I.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Smeureanu,</a:t>
            </a:r>
            <a:r>
              <a:rPr dirty="0" sz="1200" spc="-10" b="1">
                <a:latin typeface="Verdana"/>
                <a:cs typeface="Verdana"/>
              </a:rPr>
              <a:t> “CareProfSys: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Ontology-Based</a:t>
            </a:r>
            <a:r>
              <a:rPr dirty="0" sz="1200" spc="-10" b="1">
                <a:latin typeface="Verdana"/>
                <a:cs typeface="Verdana"/>
              </a:rPr>
              <a:t> Career </a:t>
            </a:r>
            <a:r>
              <a:rPr dirty="0" sz="1200" b="1">
                <a:latin typeface="Verdana"/>
                <a:cs typeface="Verdana"/>
              </a:rPr>
              <a:t>Profiling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Recommendation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System,”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Procedia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Computer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Science,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192,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spc="-20" b="1">
                <a:latin typeface="Verdana"/>
                <a:cs typeface="Verdana"/>
              </a:rPr>
              <a:t>565– </a:t>
            </a:r>
            <a:r>
              <a:rPr dirty="0" sz="1200" b="1">
                <a:latin typeface="Verdana"/>
                <a:cs typeface="Verdana"/>
              </a:rPr>
              <a:t>574,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2021.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9625" y="885826"/>
            <a:ext cx="10668000" cy="34290"/>
          </a:xfrm>
          <a:custGeom>
            <a:avLst/>
            <a:gdLst/>
            <a:ahLst/>
            <a:cxnLst/>
            <a:rect l="l" t="t" r="r" b="b"/>
            <a:pathLst>
              <a:path w="10668000" h="34290">
                <a:moveTo>
                  <a:pt x="10668000" y="0"/>
                </a:moveTo>
                <a:lnTo>
                  <a:pt x="0" y="0"/>
                </a:lnTo>
                <a:lnTo>
                  <a:pt x="0" y="34288"/>
                </a:lnTo>
                <a:lnTo>
                  <a:pt x="10668000" y="34288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492" y="288861"/>
            <a:ext cx="5166360" cy="4451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dirty="0" spc="130"/>
              <a:t> </a:t>
            </a:r>
            <a:r>
              <a:rPr dirty="0"/>
              <a:t>(IEEE</a:t>
            </a:r>
            <a:r>
              <a:rPr dirty="0" spc="105"/>
              <a:t> </a:t>
            </a:r>
            <a:r>
              <a:rPr dirty="0"/>
              <a:t>Paper</a:t>
            </a:r>
            <a:r>
              <a:rPr dirty="0" spc="60"/>
              <a:t> </a:t>
            </a:r>
            <a:r>
              <a:rPr dirty="0" spc="-10"/>
              <a:t>format)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90588"/>
            <a:ext cx="12183109" cy="8661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16267" y="808989"/>
            <a:ext cx="7775575" cy="28079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267335" indent="430530">
              <a:lnSpc>
                <a:spcPct val="151900"/>
              </a:lnSpc>
              <a:spcBef>
                <a:spcPts val="110"/>
              </a:spcBef>
              <a:buAutoNum type="arabicPlain" startAt="17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M.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Ndolo,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“A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Review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of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Intelligent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Recruitment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Employment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Recommendation </a:t>
            </a:r>
            <a:r>
              <a:rPr dirty="0" sz="1200" b="1">
                <a:latin typeface="Verdana"/>
                <a:cs typeface="Verdana"/>
              </a:rPr>
              <a:t>Systems,”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International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Journal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of Computer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Applications,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183,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no.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18,</a:t>
            </a:r>
            <a:r>
              <a:rPr dirty="0" sz="1200" spc="-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10–17, 2022.</a:t>
            </a:r>
            <a:endParaRPr sz="1200">
              <a:latin typeface="Verdana"/>
              <a:cs typeface="Verdana"/>
            </a:endParaRPr>
          </a:p>
          <a:p>
            <a:pPr marL="12700" marR="126364" indent="430530">
              <a:lnSpc>
                <a:spcPct val="151000"/>
              </a:lnSpc>
              <a:spcBef>
                <a:spcPts val="30"/>
              </a:spcBef>
              <a:buAutoNum type="arabicPlain" startAt="17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N.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Thali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S.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Mayekar,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“Machine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Learning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Approaches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for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Job</a:t>
            </a:r>
            <a:r>
              <a:rPr dirty="0" sz="1200" spc="-1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Recommendation: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spc="-50" b="1">
                <a:latin typeface="Verdana"/>
                <a:cs typeface="Verdana"/>
              </a:rPr>
              <a:t>A </a:t>
            </a:r>
            <a:r>
              <a:rPr dirty="0" sz="1200" b="1">
                <a:latin typeface="Verdana"/>
                <a:cs typeface="Verdana"/>
              </a:rPr>
              <a:t>Comprehensive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Survey,”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International</a:t>
            </a:r>
            <a:r>
              <a:rPr dirty="0" sz="1200" spc="-6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Journal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of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Engineering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and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Advanced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Technology,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11,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no.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6,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45–55,</a:t>
            </a:r>
            <a:r>
              <a:rPr dirty="0" sz="1200" spc="-10" b="1">
                <a:latin typeface="Verdana"/>
                <a:cs typeface="Verdana"/>
              </a:rPr>
              <a:t> 2023.</a:t>
            </a:r>
            <a:endParaRPr sz="1200">
              <a:latin typeface="Verdana"/>
              <a:cs typeface="Verdana"/>
            </a:endParaRPr>
          </a:p>
          <a:p>
            <a:pPr marL="443230" indent="-430530">
              <a:lnSpc>
                <a:spcPct val="100000"/>
              </a:lnSpc>
              <a:spcBef>
                <a:spcPts val="735"/>
              </a:spcBef>
              <a:buAutoNum type="arabicPlain" startAt="19"/>
              <a:tabLst>
                <a:tab pos="443230" algn="l"/>
              </a:tabLst>
            </a:pPr>
            <a:r>
              <a:rPr dirty="0" sz="1200" b="1">
                <a:latin typeface="Verdana"/>
                <a:cs typeface="Verdana"/>
              </a:rPr>
              <a:t>R.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Kumar and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P.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Reddy,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“Domain-</a:t>
            </a:r>
            <a:r>
              <a:rPr dirty="0" sz="1200" b="1">
                <a:latin typeface="Verdana"/>
                <a:cs typeface="Verdana"/>
              </a:rPr>
              <a:t>Based</a:t>
            </a:r>
            <a:r>
              <a:rPr dirty="0" sz="1200" spc="-1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Resume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Classification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using</a:t>
            </a:r>
            <a:r>
              <a:rPr dirty="0" sz="1200" spc="5" b="1">
                <a:latin typeface="Verdana"/>
                <a:cs typeface="Verdana"/>
              </a:rPr>
              <a:t> </a:t>
            </a:r>
            <a:r>
              <a:rPr dirty="0" sz="1200" spc="-20" b="1">
                <a:latin typeface="Verdana"/>
                <a:cs typeface="Verdana"/>
              </a:rPr>
              <a:t>Deep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b="1">
                <a:latin typeface="Verdana"/>
                <a:cs typeface="Verdana"/>
              </a:rPr>
              <a:t>Convolutional</a:t>
            </a:r>
            <a:r>
              <a:rPr dirty="0" sz="1200" spc="-5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Neural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Networks,”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IEEE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Access,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vol.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11,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pp.</a:t>
            </a:r>
            <a:r>
              <a:rPr dirty="0" sz="1200" spc="-4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47122–47133, </a:t>
            </a:r>
            <a:r>
              <a:rPr dirty="0" sz="1200" spc="-10" b="1">
                <a:latin typeface="Verdana"/>
                <a:cs typeface="Verdana"/>
              </a:rPr>
              <a:t>2023.</a:t>
            </a:r>
            <a:endParaRPr sz="1200">
              <a:latin typeface="Verdana"/>
              <a:cs typeface="Verdana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AutoNum type="arabicPlain" startAt="20"/>
              <a:tabLst>
                <a:tab pos="443230" algn="l"/>
              </a:tabLst>
            </a:pPr>
            <a:r>
              <a:rPr dirty="0" sz="1200" spc="-10" b="1">
                <a:latin typeface="Verdana"/>
                <a:cs typeface="Verdana"/>
              </a:rPr>
              <a:t>Microsoft,</a:t>
            </a:r>
            <a:r>
              <a:rPr dirty="0" sz="1200" spc="-7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“LinkedIn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Talent</a:t>
            </a:r>
            <a:r>
              <a:rPr dirty="0" sz="1200" spc="-2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Solutions</a:t>
            </a:r>
            <a:r>
              <a:rPr dirty="0" sz="1200" spc="-4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API</a:t>
            </a:r>
            <a:r>
              <a:rPr dirty="0" sz="1200" spc="-5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Documentation,”</a:t>
            </a:r>
            <a:r>
              <a:rPr dirty="0" sz="1200" spc="-35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2024.</a:t>
            </a:r>
            <a:r>
              <a:rPr dirty="0" sz="1200" spc="-60" b="1">
                <a:latin typeface="Verdana"/>
                <a:cs typeface="Verdana"/>
              </a:rPr>
              <a:t> </a:t>
            </a:r>
            <a:r>
              <a:rPr dirty="0" sz="1200" b="1">
                <a:latin typeface="Verdana"/>
                <a:cs typeface="Verdana"/>
              </a:rPr>
              <a:t>[Online].</a:t>
            </a:r>
            <a:r>
              <a:rPr dirty="0" sz="1200" spc="-30" b="1">
                <a:latin typeface="Verdana"/>
                <a:cs typeface="Verdana"/>
              </a:rPr>
              <a:t> </a:t>
            </a:r>
            <a:r>
              <a:rPr dirty="0" sz="1200" spc="-10" b="1">
                <a:latin typeface="Verdana"/>
                <a:cs typeface="Verdana"/>
              </a:rPr>
              <a:t>Available: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spc="-10" b="1">
                <a:latin typeface="Verdana"/>
                <a:cs typeface="Verdana"/>
              </a:rPr>
              <a:t>https://learn.microsoft.com/en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225" y="1437639"/>
            <a:ext cx="3872865" cy="3920363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09625" y="880871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32"/>
                </a:moveTo>
                <a:lnTo>
                  <a:pt x="0" y="45732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32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2025-12-09T05:55:39Z</dcterms:created>
  <dcterms:modified xsi:type="dcterms:W3CDTF">2025-12-09T05:55:39Z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2025-12-09T00:00:00Z</vt:filetime>
  </property>
</Properties>
</file>